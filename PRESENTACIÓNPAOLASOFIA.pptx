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Montserrat" charset="1" panose="00000500000000000000"/>
      <p:regular r:id="rId36"/>
    </p:embeddedFont>
    <p:embeddedFont>
      <p:font typeface="League Spartan" charset="1" panose="00000800000000000000"/>
      <p:regular r:id="rId37"/>
    </p:embeddedFont>
    <p:embeddedFont>
      <p:font typeface="Montserrat Bold" charset="1" panose="00000800000000000000"/>
      <p:regular r:id="rId38"/>
    </p:embeddedFont>
    <p:embeddedFont>
      <p:font typeface="Montserrat Italics" charset="1" panose="00000500000000000000"/>
      <p:regular r:id="rId39"/>
    </p:embeddedFont>
    <p:embeddedFont>
      <p:font typeface="Calibri (MS) Bold" charset="1" panose="020F0702030404030204"/>
      <p:regular r:id="rId40"/>
    </p:embeddedFont>
    <p:embeddedFont>
      <p:font typeface="Canva Sans" charset="1" panose="020B0503030501040103"/>
      <p:regular r:id="rId41"/>
    </p:embeddedFont>
    <p:embeddedFont>
      <p:font typeface="Canva Sans Bold" charset="1" panose="020B0803030501040103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5502329" y="-1535460"/>
            <a:ext cx="11926011" cy="12326626"/>
          </a:xfrm>
          <a:custGeom>
            <a:avLst/>
            <a:gdLst/>
            <a:ahLst/>
            <a:cxnLst/>
            <a:rect r="r" b="b" t="t" l="l"/>
            <a:pathLst>
              <a:path h="12326626" w="11926011">
                <a:moveTo>
                  <a:pt x="11926011" y="0"/>
                </a:moveTo>
                <a:lnTo>
                  <a:pt x="0" y="0"/>
                </a:lnTo>
                <a:lnTo>
                  <a:pt x="0" y="12326627"/>
                </a:lnTo>
                <a:lnTo>
                  <a:pt x="11926011" y="12326627"/>
                </a:lnTo>
                <a:lnTo>
                  <a:pt x="1192601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386590" y="-774807"/>
            <a:ext cx="10380189" cy="1038018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026103" y="4147044"/>
            <a:ext cx="5111405" cy="5111405"/>
          </a:xfrm>
          <a:custGeom>
            <a:avLst/>
            <a:gdLst/>
            <a:ahLst/>
            <a:cxnLst/>
            <a:rect r="r" b="b" t="t" l="l"/>
            <a:pathLst>
              <a:path h="5111405" w="5111405">
                <a:moveTo>
                  <a:pt x="0" y="0"/>
                </a:moveTo>
                <a:lnTo>
                  <a:pt x="5111406" y="0"/>
                </a:lnTo>
                <a:lnTo>
                  <a:pt x="5111406" y="5111405"/>
                </a:lnTo>
                <a:lnTo>
                  <a:pt x="0" y="51114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026103" y="4098422"/>
            <a:ext cx="5111405" cy="4430667"/>
            <a:chOff x="0" y="0"/>
            <a:chExt cx="93768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7680" cy="812800"/>
            </a:xfrm>
            <a:custGeom>
              <a:avLst/>
              <a:gdLst/>
              <a:ahLst/>
              <a:cxnLst/>
              <a:rect r="r" b="b" t="t" l="l"/>
              <a:pathLst>
                <a:path h="812800" w="937680">
                  <a:moveTo>
                    <a:pt x="468840" y="0"/>
                  </a:moveTo>
                  <a:cubicBezTo>
                    <a:pt x="209907" y="0"/>
                    <a:pt x="0" y="181951"/>
                    <a:pt x="0" y="406400"/>
                  </a:cubicBezTo>
                  <a:cubicBezTo>
                    <a:pt x="0" y="630849"/>
                    <a:pt x="209907" y="812800"/>
                    <a:pt x="468840" y="812800"/>
                  </a:cubicBezTo>
                  <a:cubicBezTo>
                    <a:pt x="727774" y="812800"/>
                    <a:pt x="937680" y="630849"/>
                    <a:pt x="937680" y="406400"/>
                  </a:cubicBezTo>
                  <a:cubicBezTo>
                    <a:pt x="937680" y="181951"/>
                    <a:pt x="727774" y="0"/>
                    <a:pt x="468840" y="0"/>
                  </a:cubicBezTo>
                  <a:close/>
                </a:path>
              </a:pathLst>
            </a:custGeom>
            <a:blipFill>
              <a:blip r:embed="rId7"/>
              <a:stretch>
                <a:fillRect l="-14930" t="0" r="-14930" b="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9439047" y="3561411"/>
            <a:ext cx="7947402" cy="268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Predicción del rendimiento de cultivos  colombianos a partir de datos  agronómicos mediante Machine Learning</a:t>
            </a:r>
          </a:p>
          <a:p>
            <a:pPr algn="l">
              <a:lnSpc>
                <a:spcPts val="43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044900" y="1852433"/>
            <a:ext cx="930537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spc="-566">
                <a:solidFill>
                  <a:srgbClr val="0154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Agricultura Predictiva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39047" y="6256606"/>
            <a:ext cx="7947402" cy="106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Sofía Vásquez Jaramillo 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Sandra Paola Restrepo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1773" y="1958840"/>
            <a:ext cx="378788" cy="82851"/>
          </a:xfrm>
          <a:custGeom>
            <a:avLst/>
            <a:gdLst/>
            <a:ahLst/>
            <a:cxnLst/>
            <a:rect r="r" b="b" t="t" l="l"/>
            <a:pathLst>
              <a:path h="82851" w="378788">
                <a:moveTo>
                  <a:pt x="0" y="0"/>
                </a:moveTo>
                <a:lnTo>
                  <a:pt x="378788" y="0"/>
                </a:lnTo>
                <a:lnTo>
                  <a:pt x="378788" y="82851"/>
                </a:lnTo>
                <a:lnTo>
                  <a:pt x="0" y="8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51970" r="-621009" b="-13467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531473" y="8442177"/>
            <a:ext cx="816123" cy="81612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435" y="31435"/>
              <a:ext cx="749931" cy="749931"/>
            </a:xfrm>
            <a:custGeom>
              <a:avLst/>
              <a:gdLst/>
              <a:ahLst/>
              <a:cxnLst/>
              <a:rect r="r" b="b" t="t" l="l"/>
              <a:pathLst>
                <a:path h="749931" w="749931">
                  <a:moveTo>
                    <a:pt x="428627" y="22227"/>
                  </a:moveTo>
                  <a:lnTo>
                    <a:pt x="727703" y="321303"/>
                  </a:lnTo>
                  <a:cubicBezTo>
                    <a:pt x="757340" y="350940"/>
                    <a:pt x="757340" y="398990"/>
                    <a:pt x="727703" y="428627"/>
                  </a:cubicBezTo>
                  <a:lnTo>
                    <a:pt x="428627" y="727703"/>
                  </a:lnTo>
                  <a:cubicBezTo>
                    <a:pt x="398990" y="757340"/>
                    <a:pt x="350940" y="757340"/>
                    <a:pt x="321303" y="727703"/>
                  </a:cubicBezTo>
                  <a:lnTo>
                    <a:pt x="22227" y="428627"/>
                  </a:lnTo>
                  <a:cubicBezTo>
                    <a:pt x="-7410" y="398990"/>
                    <a:pt x="-7410" y="350940"/>
                    <a:pt x="22227" y="321303"/>
                  </a:cubicBezTo>
                  <a:lnTo>
                    <a:pt x="321303" y="22227"/>
                  </a:lnTo>
                  <a:cubicBezTo>
                    <a:pt x="350940" y="-7410"/>
                    <a:pt x="398990" y="-7410"/>
                    <a:pt x="428627" y="22227"/>
                  </a:cubicBezTo>
                  <a:close/>
                </a:path>
              </a:pathLst>
            </a:custGeom>
            <a:solidFill>
              <a:srgbClr val="01543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183872"/>
            <a:ext cx="8069253" cy="8914344"/>
          </a:xfrm>
          <a:custGeom>
            <a:avLst/>
            <a:gdLst/>
            <a:ahLst/>
            <a:cxnLst/>
            <a:rect r="r" b="b" t="t" l="l"/>
            <a:pathLst>
              <a:path h="8914344" w="8069253">
                <a:moveTo>
                  <a:pt x="0" y="0"/>
                </a:moveTo>
                <a:lnTo>
                  <a:pt x="8069253" y="0"/>
                </a:lnTo>
                <a:lnTo>
                  <a:pt x="8069253" y="8914343"/>
                </a:lnTo>
                <a:lnTo>
                  <a:pt x="0" y="8914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20807" y="1555650"/>
            <a:ext cx="4860841" cy="5342723"/>
          </a:xfrm>
          <a:custGeom>
            <a:avLst/>
            <a:gdLst/>
            <a:ahLst/>
            <a:cxnLst/>
            <a:rect r="r" b="b" t="t" l="l"/>
            <a:pathLst>
              <a:path h="5342723" w="4860841">
                <a:moveTo>
                  <a:pt x="0" y="0"/>
                </a:moveTo>
                <a:lnTo>
                  <a:pt x="4860841" y="0"/>
                </a:lnTo>
                <a:lnTo>
                  <a:pt x="4860841" y="5342724"/>
                </a:lnTo>
                <a:lnTo>
                  <a:pt x="0" y="5342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339" t="-35063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681648" y="8633862"/>
            <a:ext cx="515772" cy="38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4294" y="85156"/>
            <a:ext cx="6916794" cy="1801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7"/>
              </a:lnSpc>
            </a:pPr>
            <a:r>
              <a:rPr lang="en-US" sz="5205" spc="-182" b="true">
                <a:solidFill>
                  <a:srgbClr val="0154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Tabla de Contenido </a:t>
            </a:r>
          </a:p>
          <a:p>
            <a:pPr algn="l">
              <a:lnSpc>
                <a:spcPts val="728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776960" y="7096243"/>
            <a:ext cx="5482340" cy="89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26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IMAGEN #1: SORGO EN CAMPO. (AUTORÍA PROPIA, 2026)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30935" y="2535290"/>
            <a:ext cx="6028502" cy="6028502"/>
          </a:xfrm>
          <a:custGeom>
            <a:avLst/>
            <a:gdLst/>
            <a:ahLst/>
            <a:cxnLst/>
            <a:rect r="r" b="b" t="t" l="l"/>
            <a:pathLst>
              <a:path h="6028502" w="6028502">
                <a:moveTo>
                  <a:pt x="0" y="0"/>
                </a:moveTo>
                <a:lnTo>
                  <a:pt x="6028502" y="0"/>
                </a:lnTo>
                <a:lnTo>
                  <a:pt x="6028502" y="6028501"/>
                </a:lnTo>
                <a:lnTo>
                  <a:pt x="0" y="6028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33813" y="2477945"/>
            <a:ext cx="5225625" cy="522562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1988" t="0" r="-25006" b="-4696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61773" y="1958840"/>
            <a:ext cx="378788" cy="82851"/>
          </a:xfrm>
          <a:custGeom>
            <a:avLst/>
            <a:gdLst/>
            <a:ahLst/>
            <a:cxnLst/>
            <a:rect r="r" b="b" t="t" l="l"/>
            <a:pathLst>
              <a:path h="82851" w="378788">
                <a:moveTo>
                  <a:pt x="0" y="0"/>
                </a:moveTo>
                <a:lnTo>
                  <a:pt x="378788" y="0"/>
                </a:lnTo>
                <a:lnTo>
                  <a:pt x="378788" y="82851"/>
                </a:lnTo>
                <a:lnTo>
                  <a:pt x="0" y="828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51970" r="-621009" b="-1346787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531473" y="8442177"/>
            <a:ext cx="816123" cy="81612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435" y="31435"/>
              <a:ext cx="749931" cy="749931"/>
            </a:xfrm>
            <a:custGeom>
              <a:avLst/>
              <a:gdLst/>
              <a:ahLst/>
              <a:cxnLst/>
              <a:rect r="r" b="b" t="t" l="l"/>
              <a:pathLst>
                <a:path h="749931" w="749931">
                  <a:moveTo>
                    <a:pt x="428627" y="22227"/>
                  </a:moveTo>
                  <a:lnTo>
                    <a:pt x="727703" y="321303"/>
                  </a:lnTo>
                  <a:cubicBezTo>
                    <a:pt x="757340" y="350940"/>
                    <a:pt x="757340" y="398990"/>
                    <a:pt x="727703" y="428627"/>
                  </a:cubicBezTo>
                  <a:lnTo>
                    <a:pt x="428627" y="727703"/>
                  </a:lnTo>
                  <a:cubicBezTo>
                    <a:pt x="398990" y="757340"/>
                    <a:pt x="350940" y="757340"/>
                    <a:pt x="321303" y="727703"/>
                  </a:cubicBezTo>
                  <a:lnTo>
                    <a:pt x="22227" y="428627"/>
                  </a:lnTo>
                  <a:cubicBezTo>
                    <a:pt x="-7410" y="398990"/>
                    <a:pt x="-7410" y="350940"/>
                    <a:pt x="22227" y="321303"/>
                  </a:cubicBezTo>
                  <a:lnTo>
                    <a:pt x="321303" y="22227"/>
                  </a:lnTo>
                  <a:cubicBezTo>
                    <a:pt x="350940" y="-7410"/>
                    <a:pt x="398990" y="-7410"/>
                    <a:pt x="428627" y="22227"/>
                  </a:cubicBezTo>
                  <a:close/>
                </a:path>
              </a:pathLst>
            </a:custGeom>
            <a:solidFill>
              <a:srgbClr val="01543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681648" y="8633862"/>
            <a:ext cx="515772" cy="38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30856" y="1506238"/>
            <a:ext cx="6916794" cy="8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7"/>
              </a:lnSpc>
            </a:pPr>
            <a:r>
              <a:rPr lang="en-US" sz="5205" spc="-182" b="true">
                <a:solidFill>
                  <a:srgbClr val="0154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 General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360378"/>
            <a:ext cx="9348552" cy="431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spc="-122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Fortalecer y profundizar los conocimientos adquiridos en agricultura predictiva mediante el manejo, limpieza e imputación de datos, así como la implementación y evaluación de modelos predictivos, comprendiendo su importancia y aplicación en la optimización de los procesos agrícolas.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36396" y="8980890"/>
            <a:ext cx="5345252" cy="69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20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IMAGEN #2: PLANTA EN MANO. (CANVA, 2026)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61606" y="364557"/>
            <a:ext cx="6763758" cy="9018343"/>
          </a:xfrm>
          <a:custGeom>
            <a:avLst/>
            <a:gdLst/>
            <a:ahLst/>
            <a:cxnLst/>
            <a:rect r="r" b="b" t="t" l="l"/>
            <a:pathLst>
              <a:path h="9018343" w="6763758">
                <a:moveTo>
                  <a:pt x="0" y="0"/>
                </a:moveTo>
                <a:lnTo>
                  <a:pt x="6763758" y="0"/>
                </a:lnTo>
                <a:lnTo>
                  <a:pt x="6763758" y="9018343"/>
                </a:lnTo>
                <a:lnTo>
                  <a:pt x="0" y="9018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78503" y="3940338"/>
            <a:ext cx="6401904" cy="93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5"/>
              </a:lnSpc>
            </a:pPr>
            <a:r>
              <a:rPr lang="en-US" sz="6087" b="true">
                <a:solidFill>
                  <a:srgbClr val="0048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99665" y="9537486"/>
            <a:ext cx="9928722" cy="43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2614">
                <a:solidFill>
                  <a:srgbClr val="004834"/>
                </a:solidFill>
                <a:latin typeface="Montserrat"/>
                <a:ea typeface="Montserrat"/>
                <a:cs typeface="Montserrat"/>
                <a:sym typeface="Montserrat"/>
              </a:rPr>
              <a:t>IMAGEN #3: INTEGRANTES DEL GRUPO. (AUTORÍA PROPIA)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84892" y="1380829"/>
            <a:ext cx="386222" cy="496483"/>
          </a:xfrm>
          <a:custGeom>
            <a:avLst/>
            <a:gdLst/>
            <a:ahLst/>
            <a:cxnLst/>
            <a:rect r="r" b="b" t="t" l="l"/>
            <a:pathLst>
              <a:path h="496483" w="386222">
                <a:moveTo>
                  <a:pt x="0" y="0"/>
                </a:moveTo>
                <a:lnTo>
                  <a:pt x="386222" y="0"/>
                </a:lnTo>
                <a:lnTo>
                  <a:pt x="386222" y="496483"/>
                </a:lnTo>
                <a:lnTo>
                  <a:pt x="0" y="4964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51238" y="8850238"/>
            <a:ext cx="816123" cy="81612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435" y="31435"/>
              <a:ext cx="749931" cy="749931"/>
            </a:xfrm>
            <a:custGeom>
              <a:avLst/>
              <a:gdLst/>
              <a:ahLst/>
              <a:cxnLst/>
              <a:rect r="r" b="b" t="t" l="l"/>
              <a:pathLst>
                <a:path h="749931" w="749931">
                  <a:moveTo>
                    <a:pt x="428627" y="22227"/>
                  </a:moveTo>
                  <a:lnTo>
                    <a:pt x="727703" y="321303"/>
                  </a:lnTo>
                  <a:cubicBezTo>
                    <a:pt x="757340" y="350940"/>
                    <a:pt x="757340" y="398990"/>
                    <a:pt x="727703" y="428627"/>
                  </a:cubicBezTo>
                  <a:lnTo>
                    <a:pt x="428627" y="727703"/>
                  </a:lnTo>
                  <a:cubicBezTo>
                    <a:pt x="398990" y="757340"/>
                    <a:pt x="350940" y="757340"/>
                    <a:pt x="321303" y="727703"/>
                  </a:cubicBezTo>
                  <a:lnTo>
                    <a:pt x="22227" y="428627"/>
                  </a:lnTo>
                  <a:cubicBezTo>
                    <a:pt x="-7410" y="398990"/>
                    <a:pt x="-7410" y="350940"/>
                    <a:pt x="22227" y="321303"/>
                  </a:cubicBezTo>
                  <a:lnTo>
                    <a:pt x="321303" y="22227"/>
                  </a:lnTo>
                  <a:cubicBezTo>
                    <a:pt x="350940" y="-7410"/>
                    <a:pt x="398990" y="-7410"/>
                    <a:pt x="428627" y="22227"/>
                  </a:cubicBezTo>
                  <a:close/>
                </a:path>
              </a:pathLst>
            </a:custGeom>
            <a:solidFill>
              <a:srgbClr val="01543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37897" y="1629070"/>
            <a:ext cx="8706103" cy="769748"/>
            <a:chOff x="0" y="0"/>
            <a:chExt cx="11608138" cy="102633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608138" cy="1026330"/>
              <a:chOff x="0" y="0"/>
              <a:chExt cx="2309889" cy="20422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09889" cy="204228"/>
              </a:xfrm>
              <a:custGeom>
                <a:avLst/>
                <a:gdLst/>
                <a:ahLst/>
                <a:cxnLst/>
                <a:rect r="r" b="b" t="t" l="l"/>
                <a:pathLst>
                  <a:path h="204228" w="2309889">
                    <a:moveTo>
                      <a:pt x="45352" y="0"/>
                    </a:moveTo>
                    <a:lnTo>
                      <a:pt x="2264538" y="0"/>
                    </a:lnTo>
                    <a:cubicBezTo>
                      <a:pt x="2289585" y="0"/>
                      <a:pt x="2309889" y="20305"/>
                      <a:pt x="2309889" y="45352"/>
                    </a:cubicBezTo>
                    <a:lnTo>
                      <a:pt x="2309889" y="158876"/>
                    </a:lnTo>
                    <a:cubicBezTo>
                      <a:pt x="2309889" y="183923"/>
                      <a:pt x="2289585" y="204228"/>
                      <a:pt x="2264538" y="204228"/>
                    </a:cubicBezTo>
                    <a:lnTo>
                      <a:pt x="45352" y="204228"/>
                    </a:lnTo>
                    <a:cubicBezTo>
                      <a:pt x="20305" y="204228"/>
                      <a:pt x="0" y="183923"/>
                      <a:pt x="0" y="158876"/>
                    </a:cubicBezTo>
                    <a:lnTo>
                      <a:pt x="0" y="45352"/>
                    </a:lnTo>
                    <a:cubicBezTo>
                      <a:pt x="0" y="20305"/>
                      <a:pt x="20305" y="0"/>
                      <a:pt x="45352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309889" cy="25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162730"/>
              <a:ext cx="10869919" cy="643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01"/>
                </a:lnSpc>
              </a:pPr>
              <a:r>
                <a:rPr lang="en-US" sz="292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PLANTEAMIENTO DEL PROBLEMA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116335" y="1629070"/>
            <a:ext cx="6231261" cy="4030502"/>
            <a:chOff x="0" y="0"/>
            <a:chExt cx="1653268" cy="10693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53268" cy="1069366"/>
            </a:xfrm>
            <a:custGeom>
              <a:avLst/>
              <a:gdLst/>
              <a:ahLst/>
              <a:cxnLst/>
              <a:rect r="r" b="b" t="t" l="l"/>
              <a:pathLst>
                <a:path h="1069366" w="1653268">
                  <a:moveTo>
                    <a:pt x="63364" y="0"/>
                  </a:moveTo>
                  <a:lnTo>
                    <a:pt x="1589904" y="0"/>
                  </a:lnTo>
                  <a:cubicBezTo>
                    <a:pt x="1606709" y="0"/>
                    <a:pt x="1622826" y="6676"/>
                    <a:pt x="1634709" y="18559"/>
                  </a:cubicBezTo>
                  <a:cubicBezTo>
                    <a:pt x="1646592" y="30442"/>
                    <a:pt x="1653268" y="46559"/>
                    <a:pt x="1653268" y="63364"/>
                  </a:cubicBezTo>
                  <a:lnTo>
                    <a:pt x="1653268" y="1006002"/>
                  </a:lnTo>
                  <a:cubicBezTo>
                    <a:pt x="1653268" y="1040997"/>
                    <a:pt x="1624899" y="1069366"/>
                    <a:pt x="1589904" y="1069366"/>
                  </a:cubicBezTo>
                  <a:lnTo>
                    <a:pt x="63364" y="1069366"/>
                  </a:lnTo>
                  <a:cubicBezTo>
                    <a:pt x="46559" y="1069366"/>
                    <a:pt x="30442" y="1062691"/>
                    <a:pt x="18559" y="1050807"/>
                  </a:cubicBezTo>
                  <a:cubicBezTo>
                    <a:pt x="6676" y="1038924"/>
                    <a:pt x="0" y="1022808"/>
                    <a:pt x="0" y="1006002"/>
                  </a:cubicBezTo>
                  <a:lnTo>
                    <a:pt x="0" y="63364"/>
                  </a:lnTo>
                  <a:cubicBezTo>
                    <a:pt x="0" y="28369"/>
                    <a:pt x="28369" y="0"/>
                    <a:pt x="63364" y="0"/>
                  </a:cubicBezTo>
                  <a:close/>
                </a:path>
              </a:pathLst>
            </a:custGeom>
            <a:solidFill>
              <a:srgbClr val="0154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653268" cy="1116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16335" y="6316736"/>
            <a:ext cx="6231261" cy="2533502"/>
            <a:chOff x="0" y="0"/>
            <a:chExt cx="1653268" cy="6721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53268" cy="672185"/>
            </a:xfrm>
            <a:custGeom>
              <a:avLst/>
              <a:gdLst/>
              <a:ahLst/>
              <a:cxnLst/>
              <a:rect r="r" b="b" t="t" l="l"/>
              <a:pathLst>
                <a:path h="672185" w="1653268">
                  <a:moveTo>
                    <a:pt x="63364" y="0"/>
                  </a:moveTo>
                  <a:lnTo>
                    <a:pt x="1589904" y="0"/>
                  </a:lnTo>
                  <a:cubicBezTo>
                    <a:pt x="1606709" y="0"/>
                    <a:pt x="1622826" y="6676"/>
                    <a:pt x="1634709" y="18559"/>
                  </a:cubicBezTo>
                  <a:cubicBezTo>
                    <a:pt x="1646592" y="30442"/>
                    <a:pt x="1653268" y="46559"/>
                    <a:pt x="1653268" y="63364"/>
                  </a:cubicBezTo>
                  <a:lnTo>
                    <a:pt x="1653268" y="608821"/>
                  </a:lnTo>
                  <a:cubicBezTo>
                    <a:pt x="1653268" y="643816"/>
                    <a:pt x="1624899" y="672185"/>
                    <a:pt x="1589904" y="672185"/>
                  </a:cubicBezTo>
                  <a:lnTo>
                    <a:pt x="63364" y="672185"/>
                  </a:lnTo>
                  <a:cubicBezTo>
                    <a:pt x="28369" y="672185"/>
                    <a:pt x="0" y="643816"/>
                    <a:pt x="0" y="608821"/>
                  </a:cubicBezTo>
                  <a:lnTo>
                    <a:pt x="0" y="63364"/>
                  </a:lnTo>
                  <a:cubicBezTo>
                    <a:pt x="0" y="28369"/>
                    <a:pt x="28369" y="0"/>
                    <a:pt x="63364" y="0"/>
                  </a:cubicBezTo>
                  <a:close/>
                </a:path>
              </a:pathLst>
            </a:custGeom>
            <a:solidFill>
              <a:srgbClr val="01543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653268" cy="719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0"/>
                </a:lnSpc>
              </a:pPr>
              <a:r>
                <a:rPr lang="en-US" sz="2614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Desarrollar y comparar modelos de ML supervisados y no supervisados para predecir el rendimiento agrícola foliar colombiano.</a:t>
              </a:r>
            </a:p>
            <a:p>
              <a:pPr algn="ctr">
                <a:lnSpc>
                  <a:spcPts val="36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001414" y="9041923"/>
            <a:ext cx="515772" cy="38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4552" y="151262"/>
            <a:ext cx="3903640" cy="8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7"/>
              </a:lnSpc>
            </a:pPr>
            <a:r>
              <a:rPr lang="en-US" sz="5205" spc="-182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Data Real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7897" y="2805248"/>
            <a:ext cx="8706103" cy="542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•Colombia pierde cosechas por deficiencias nutricionales no detectadas a tiempo.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•El análisis foliar mide la concentración de nutrientes en hojas -señal temprana de daño.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•AGROSAVIA registra más de 10.000 muestras foliares de 171 cultivos en 26 departamentos.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 Fuente:Datos abiertos agricultura y desarrollo rural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•Sin un modelo predictivo, los técnicos reaccionan tarde, cuando el daño ya es irreversible.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68743" y="1956794"/>
            <a:ext cx="5326444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¿Es posible predecir si el rendimiento de un cultivo será BUENO, REGULAR o MALO a partir de sus nutrientes foliares y variables agronómicas?</a:t>
            </a:r>
          </a:p>
          <a:p>
            <a:pPr algn="just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8728" y="4735206"/>
            <a:ext cx="8706103" cy="769748"/>
            <a:chOff x="0" y="0"/>
            <a:chExt cx="11608138" cy="102633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608138" cy="1026330"/>
              <a:chOff x="0" y="0"/>
              <a:chExt cx="2309889" cy="20422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09889" cy="204228"/>
              </a:xfrm>
              <a:custGeom>
                <a:avLst/>
                <a:gdLst/>
                <a:ahLst/>
                <a:cxnLst/>
                <a:rect r="r" b="b" t="t" l="l"/>
                <a:pathLst>
                  <a:path h="204228" w="2309889">
                    <a:moveTo>
                      <a:pt x="45352" y="0"/>
                    </a:moveTo>
                    <a:lnTo>
                      <a:pt x="2264538" y="0"/>
                    </a:lnTo>
                    <a:cubicBezTo>
                      <a:pt x="2289585" y="0"/>
                      <a:pt x="2309889" y="20305"/>
                      <a:pt x="2309889" y="45352"/>
                    </a:cubicBezTo>
                    <a:lnTo>
                      <a:pt x="2309889" y="158876"/>
                    </a:lnTo>
                    <a:cubicBezTo>
                      <a:pt x="2309889" y="183923"/>
                      <a:pt x="2289585" y="204228"/>
                      <a:pt x="2264538" y="204228"/>
                    </a:cubicBezTo>
                    <a:lnTo>
                      <a:pt x="45352" y="204228"/>
                    </a:lnTo>
                    <a:cubicBezTo>
                      <a:pt x="20305" y="204228"/>
                      <a:pt x="0" y="183923"/>
                      <a:pt x="0" y="158876"/>
                    </a:cubicBezTo>
                    <a:lnTo>
                      <a:pt x="0" y="45352"/>
                    </a:lnTo>
                    <a:cubicBezTo>
                      <a:pt x="0" y="20305"/>
                      <a:pt x="20305" y="0"/>
                      <a:pt x="45352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2309889" cy="25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162730"/>
              <a:ext cx="10869919" cy="643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01"/>
                </a:lnSpc>
              </a:pPr>
              <a:r>
                <a:rPr lang="en-US" sz="292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1.PROCESAMIENTO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45958" y="1659461"/>
            <a:ext cx="5057699" cy="2710165"/>
            <a:chOff x="0" y="0"/>
            <a:chExt cx="1341901" cy="7190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1901" cy="719057"/>
            </a:xfrm>
            <a:custGeom>
              <a:avLst/>
              <a:gdLst/>
              <a:ahLst/>
              <a:cxnLst/>
              <a:rect r="r" b="b" t="t" l="l"/>
              <a:pathLst>
                <a:path h="719057" w="1341901">
                  <a:moveTo>
                    <a:pt x="78067" y="0"/>
                  </a:moveTo>
                  <a:lnTo>
                    <a:pt x="1263834" y="0"/>
                  </a:lnTo>
                  <a:cubicBezTo>
                    <a:pt x="1306949" y="0"/>
                    <a:pt x="1341901" y="34952"/>
                    <a:pt x="1341901" y="78067"/>
                  </a:cubicBezTo>
                  <a:lnTo>
                    <a:pt x="1341901" y="640990"/>
                  </a:lnTo>
                  <a:cubicBezTo>
                    <a:pt x="1341901" y="684105"/>
                    <a:pt x="1306949" y="719057"/>
                    <a:pt x="1263834" y="719057"/>
                  </a:cubicBezTo>
                  <a:lnTo>
                    <a:pt x="78067" y="719057"/>
                  </a:lnTo>
                  <a:cubicBezTo>
                    <a:pt x="34952" y="719057"/>
                    <a:pt x="0" y="684105"/>
                    <a:pt x="0" y="640990"/>
                  </a:cubicBezTo>
                  <a:lnTo>
                    <a:pt x="0" y="78067"/>
                  </a:lnTo>
                  <a:cubicBezTo>
                    <a:pt x="0" y="34952"/>
                    <a:pt x="34952" y="0"/>
                    <a:pt x="78067" y="0"/>
                  </a:cubicBezTo>
                  <a:close/>
                </a:path>
              </a:pathLst>
            </a:custGeom>
            <a:solidFill>
              <a:srgbClr val="01543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341901" cy="795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60"/>
                </a:lnSpc>
              </a:pPr>
              <a:r>
                <a:rPr lang="en-US" sz="4114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10.027 </a:t>
              </a:r>
            </a:p>
            <a:p>
              <a:pPr algn="ctr">
                <a:lnSpc>
                  <a:spcPts val="3660"/>
                </a:lnSpc>
              </a:pPr>
              <a:r>
                <a:rPr lang="en-US" sz="2614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Registros </a:t>
              </a:r>
            </a:p>
            <a:p>
              <a:pPr algn="ctr">
                <a:lnSpc>
                  <a:spcPts val="3660"/>
                </a:lnSpc>
              </a:pPr>
              <a:r>
                <a:rPr lang="en-US" sz="2614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Fuente Agricultura y desarrollo Rural </a:t>
              </a:r>
            </a:p>
            <a:p>
              <a:pPr algn="ctr">
                <a:lnSpc>
                  <a:spcPts val="3660"/>
                </a:lnSpc>
              </a:pPr>
              <a:r>
                <a:rPr lang="en-US" sz="2614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2018-2024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48989" y="1659461"/>
            <a:ext cx="2808373" cy="2710165"/>
            <a:chOff x="0" y="0"/>
            <a:chExt cx="745113" cy="7190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5113" cy="719057"/>
            </a:xfrm>
            <a:custGeom>
              <a:avLst/>
              <a:gdLst/>
              <a:ahLst/>
              <a:cxnLst/>
              <a:rect r="r" b="b" t="t" l="l"/>
              <a:pathLst>
                <a:path h="719057" w="745113">
                  <a:moveTo>
                    <a:pt x="140593" y="0"/>
                  </a:moveTo>
                  <a:lnTo>
                    <a:pt x="604520" y="0"/>
                  </a:lnTo>
                  <a:cubicBezTo>
                    <a:pt x="641808" y="0"/>
                    <a:pt x="677568" y="14812"/>
                    <a:pt x="703934" y="41179"/>
                  </a:cubicBezTo>
                  <a:cubicBezTo>
                    <a:pt x="730301" y="67545"/>
                    <a:pt x="745113" y="103306"/>
                    <a:pt x="745113" y="140593"/>
                  </a:cubicBezTo>
                  <a:lnTo>
                    <a:pt x="745113" y="578464"/>
                  </a:lnTo>
                  <a:cubicBezTo>
                    <a:pt x="745113" y="615751"/>
                    <a:pt x="730301" y="651512"/>
                    <a:pt x="703934" y="677878"/>
                  </a:cubicBezTo>
                  <a:cubicBezTo>
                    <a:pt x="677568" y="704244"/>
                    <a:pt x="641808" y="719057"/>
                    <a:pt x="604520" y="719057"/>
                  </a:cubicBezTo>
                  <a:lnTo>
                    <a:pt x="140593" y="719057"/>
                  </a:lnTo>
                  <a:cubicBezTo>
                    <a:pt x="103306" y="719057"/>
                    <a:pt x="67545" y="704244"/>
                    <a:pt x="41179" y="677878"/>
                  </a:cubicBezTo>
                  <a:cubicBezTo>
                    <a:pt x="14812" y="651512"/>
                    <a:pt x="0" y="615751"/>
                    <a:pt x="0" y="578464"/>
                  </a:cubicBezTo>
                  <a:lnTo>
                    <a:pt x="0" y="140593"/>
                  </a:lnTo>
                  <a:cubicBezTo>
                    <a:pt x="0" y="103306"/>
                    <a:pt x="14812" y="67545"/>
                    <a:pt x="41179" y="41179"/>
                  </a:cubicBezTo>
                  <a:cubicBezTo>
                    <a:pt x="67545" y="14812"/>
                    <a:pt x="103306" y="0"/>
                    <a:pt x="140593" y="0"/>
                  </a:cubicBezTo>
                  <a:close/>
                </a:path>
              </a:pathLst>
            </a:custGeom>
            <a:solidFill>
              <a:srgbClr val="01543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745113" cy="795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60"/>
                </a:lnSpc>
              </a:pPr>
              <a:r>
                <a:rPr lang="en-US" sz="4114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171</a:t>
              </a:r>
            </a:p>
            <a:p>
              <a:pPr algn="ctr">
                <a:lnSpc>
                  <a:spcPts val="5760"/>
                </a:lnSpc>
              </a:pPr>
              <a:r>
                <a:rPr lang="en-US" sz="4114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Cultivos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05013" y="1659461"/>
            <a:ext cx="4373122" cy="2681590"/>
            <a:chOff x="0" y="0"/>
            <a:chExt cx="1160270" cy="7114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0270" cy="711475"/>
            </a:xfrm>
            <a:custGeom>
              <a:avLst/>
              <a:gdLst/>
              <a:ahLst/>
              <a:cxnLst/>
              <a:rect r="r" b="b" t="t" l="l"/>
              <a:pathLst>
                <a:path h="711475" w="1160270">
                  <a:moveTo>
                    <a:pt x="90287" y="0"/>
                  </a:moveTo>
                  <a:lnTo>
                    <a:pt x="1069982" y="0"/>
                  </a:lnTo>
                  <a:cubicBezTo>
                    <a:pt x="1119847" y="0"/>
                    <a:pt x="1160270" y="40423"/>
                    <a:pt x="1160270" y="90287"/>
                  </a:cubicBezTo>
                  <a:lnTo>
                    <a:pt x="1160270" y="621188"/>
                  </a:lnTo>
                  <a:cubicBezTo>
                    <a:pt x="1160270" y="645134"/>
                    <a:pt x="1150757" y="668099"/>
                    <a:pt x="1133825" y="685031"/>
                  </a:cubicBezTo>
                  <a:cubicBezTo>
                    <a:pt x="1116893" y="701963"/>
                    <a:pt x="1093928" y="711475"/>
                    <a:pt x="1069982" y="711475"/>
                  </a:cubicBezTo>
                  <a:lnTo>
                    <a:pt x="90287" y="711475"/>
                  </a:lnTo>
                  <a:cubicBezTo>
                    <a:pt x="66342" y="711475"/>
                    <a:pt x="43377" y="701963"/>
                    <a:pt x="26445" y="685031"/>
                  </a:cubicBezTo>
                  <a:cubicBezTo>
                    <a:pt x="9512" y="668099"/>
                    <a:pt x="0" y="645134"/>
                    <a:pt x="0" y="621188"/>
                  </a:cubicBezTo>
                  <a:lnTo>
                    <a:pt x="0" y="90287"/>
                  </a:lnTo>
                  <a:cubicBezTo>
                    <a:pt x="0" y="66342"/>
                    <a:pt x="9512" y="43377"/>
                    <a:pt x="26445" y="26445"/>
                  </a:cubicBezTo>
                  <a:cubicBezTo>
                    <a:pt x="43377" y="9512"/>
                    <a:pt x="66342" y="0"/>
                    <a:pt x="90287" y="0"/>
                  </a:cubicBezTo>
                  <a:close/>
                </a:path>
              </a:pathLst>
            </a:custGeom>
            <a:solidFill>
              <a:srgbClr val="01543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1160270" cy="78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60"/>
                </a:lnSpc>
              </a:pPr>
              <a:r>
                <a:rPr lang="en-US" sz="4114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26</a:t>
              </a:r>
            </a:p>
            <a:p>
              <a:pPr algn="ctr">
                <a:lnSpc>
                  <a:spcPts val="5760"/>
                </a:lnSpc>
              </a:pPr>
              <a:r>
                <a:rPr lang="en-US" sz="4114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Departamentos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825785" y="1659461"/>
            <a:ext cx="3433515" cy="2681590"/>
            <a:chOff x="0" y="0"/>
            <a:chExt cx="910975" cy="7114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0975" cy="711475"/>
            </a:xfrm>
            <a:custGeom>
              <a:avLst/>
              <a:gdLst/>
              <a:ahLst/>
              <a:cxnLst/>
              <a:rect r="r" b="b" t="t" l="l"/>
              <a:pathLst>
                <a:path h="711475" w="910975">
                  <a:moveTo>
                    <a:pt x="114995" y="0"/>
                  </a:moveTo>
                  <a:lnTo>
                    <a:pt x="795980" y="0"/>
                  </a:lnTo>
                  <a:cubicBezTo>
                    <a:pt x="859490" y="0"/>
                    <a:pt x="910975" y="51485"/>
                    <a:pt x="910975" y="114995"/>
                  </a:cubicBezTo>
                  <a:lnTo>
                    <a:pt x="910975" y="596480"/>
                  </a:lnTo>
                  <a:cubicBezTo>
                    <a:pt x="910975" y="626979"/>
                    <a:pt x="898859" y="656228"/>
                    <a:pt x="877294" y="677794"/>
                  </a:cubicBezTo>
                  <a:cubicBezTo>
                    <a:pt x="855728" y="699360"/>
                    <a:pt x="826478" y="711475"/>
                    <a:pt x="795980" y="711475"/>
                  </a:cubicBezTo>
                  <a:lnTo>
                    <a:pt x="114995" y="711475"/>
                  </a:lnTo>
                  <a:cubicBezTo>
                    <a:pt x="84497" y="711475"/>
                    <a:pt x="55247" y="699360"/>
                    <a:pt x="33681" y="677794"/>
                  </a:cubicBezTo>
                  <a:cubicBezTo>
                    <a:pt x="12116" y="656228"/>
                    <a:pt x="0" y="626979"/>
                    <a:pt x="0" y="596480"/>
                  </a:cubicBezTo>
                  <a:lnTo>
                    <a:pt x="0" y="114995"/>
                  </a:lnTo>
                  <a:cubicBezTo>
                    <a:pt x="0" y="84497"/>
                    <a:pt x="12116" y="55247"/>
                    <a:pt x="33681" y="33681"/>
                  </a:cubicBezTo>
                  <a:cubicBezTo>
                    <a:pt x="55247" y="12116"/>
                    <a:pt x="84497" y="0"/>
                    <a:pt x="114995" y="0"/>
                  </a:cubicBezTo>
                  <a:close/>
                </a:path>
              </a:pathLst>
            </a:custGeom>
            <a:solidFill>
              <a:srgbClr val="01543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910975" cy="78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60"/>
                </a:lnSpc>
              </a:pPr>
              <a:r>
                <a:rPr lang="en-US" sz="4114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23 Variables 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001414" y="9032398"/>
            <a:ext cx="515772" cy="4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sz="26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4552" y="151262"/>
            <a:ext cx="3903640" cy="8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7"/>
              </a:lnSpc>
            </a:pPr>
            <a:r>
              <a:rPr lang="en-US" sz="5205" spc="-182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DATA REAL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60580" y="5690028"/>
            <a:ext cx="135131" cy="939803"/>
            <a:chOff x="0" y="0"/>
            <a:chExt cx="180175" cy="12530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46304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0086" cy="1252984"/>
            </a:xfrm>
            <a:custGeom>
              <a:avLst/>
              <a:gdLst/>
              <a:ahLst/>
              <a:cxnLst/>
              <a:rect r="r" b="b" t="t" l="l"/>
              <a:pathLst>
                <a:path h="125298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36091"/>
                  </a:lnTo>
                  <a:cubicBezTo>
                    <a:pt x="180086" y="1245489"/>
                    <a:pt x="172466" y="1252982"/>
                    <a:pt x="163195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63195" y="1219200"/>
                  </a:lnTo>
                  <a:lnTo>
                    <a:pt x="163195" y="1236091"/>
                  </a:lnTo>
                  <a:lnTo>
                    <a:pt x="146304" y="12360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02460" y="5702725"/>
            <a:ext cx="8046720" cy="515671"/>
            <a:chOff x="0" y="0"/>
            <a:chExt cx="10728960" cy="6875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28960" cy="687561"/>
            </a:xfrm>
            <a:custGeom>
              <a:avLst/>
              <a:gdLst/>
              <a:ahLst/>
              <a:cxnLst/>
              <a:rect r="r" b="b" t="t" l="l"/>
              <a:pathLst>
                <a:path h="687561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7561"/>
                  </a:lnTo>
                  <a:lnTo>
                    <a:pt x="0" y="6875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4401" r="0" b="-25370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0728960" cy="687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1B43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1. Renombrado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02460" y="6178213"/>
            <a:ext cx="8046720" cy="839419"/>
            <a:chOff x="0" y="0"/>
            <a:chExt cx="10728960" cy="11192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28960" cy="1119225"/>
            </a:xfrm>
            <a:custGeom>
              <a:avLst/>
              <a:gdLst/>
              <a:ahLst/>
              <a:cxnLst/>
              <a:rect r="r" b="b" t="t" l="l"/>
              <a:pathLst>
                <a:path h="1119225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19225"/>
                  </a:lnTo>
                  <a:lnTo>
                    <a:pt x="0" y="11192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62" r="0" b="-11510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0728960" cy="11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23 columnas con nombres extensos → nombres cortos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60580" y="7006764"/>
            <a:ext cx="135131" cy="939803"/>
            <a:chOff x="0" y="0"/>
            <a:chExt cx="180175" cy="12530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146304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0086" cy="1252984"/>
            </a:xfrm>
            <a:custGeom>
              <a:avLst/>
              <a:gdLst/>
              <a:ahLst/>
              <a:cxnLst/>
              <a:rect r="r" b="b" t="t" l="l"/>
              <a:pathLst>
                <a:path h="125298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36091"/>
                  </a:lnTo>
                  <a:cubicBezTo>
                    <a:pt x="180086" y="1245489"/>
                    <a:pt x="172466" y="1252982"/>
                    <a:pt x="163195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63195" y="1219200"/>
                  </a:lnTo>
                  <a:lnTo>
                    <a:pt x="163195" y="1236091"/>
                  </a:lnTo>
                  <a:lnTo>
                    <a:pt x="146304" y="12360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02460" y="7019461"/>
            <a:ext cx="8046720" cy="515671"/>
            <a:chOff x="0" y="0"/>
            <a:chExt cx="10728960" cy="68756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28960" cy="687561"/>
            </a:xfrm>
            <a:custGeom>
              <a:avLst/>
              <a:gdLst/>
              <a:ahLst/>
              <a:cxnLst/>
              <a:rect r="r" b="b" t="t" l="l"/>
              <a:pathLst>
                <a:path h="687561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7561"/>
                  </a:lnTo>
                  <a:lnTo>
                    <a:pt x="0" y="6875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4401" r="0" b="-25370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728960" cy="687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1B43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2. Estandarización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2460" y="7494949"/>
            <a:ext cx="8046720" cy="477469"/>
            <a:chOff x="0" y="0"/>
            <a:chExt cx="10728960" cy="6366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28960" cy="636625"/>
            </a:xfrm>
            <a:custGeom>
              <a:avLst/>
              <a:gdLst/>
              <a:ahLst/>
              <a:cxnLst/>
              <a:rect r="r" b="b" t="t" l="l"/>
              <a:pathLst>
                <a:path h="636625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36625"/>
                  </a:lnTo>
                  <a:lnTo>
                    <a:pt x="0" y="6366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86" r="0" b="-27817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10728960" cy="62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Texto a mayúsculas para unificar categorías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60580" y="8323500"/>
            <a:ext cx="135131" cy="939803"/>
            <a:chOff x="0" y="0"/>
            <a:chExt cx="180175" cy="125307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146304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0086" cy="1252984"/>
            </a:xfrm>
            <a:custGeom>
              <a:avLst/>
              <a:gdLst/>
              <a:ahLst/>
              <a:cxnLst/>
              <a:rect r="r" b="b" t="t" l="l"/>
              <a:pathLst>
                <a:path h="125298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36091"/>
                  </a:lnTo>
                  <a:cubicBezTo>
                    <a:pt x="180086" y="1245489"/>
                    <a:pt x="172466" y="1252982"/>
                    <a:pt x="163195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63195" y="1219200"/>
                  </a:lnTo>
                  <a:lnTo>
                    <a:pt x="163195" y="1236091"/>
                  </a:lnTo>
                  <a:lnTo>
                    <a:pt x="146304" y="12360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02460" y="8336197"/>
            <a:ext cx="8046720" cy="515671"/>
            <a:chOff x="0" y="0"/>
            <a:chExt cx="10728960" cy="68756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28960" cy="687561"/>
            </a:xfrm>
            <a:custGeom>
              <a:avLst/>
              <a:gdLst/>
              <a:ahLst/>
              <a:cxnLst/>
              <a:rect r="r" b="b" t="t" l="l"/>
              <a:pathLst>
                <a:path h="687561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7561"/>
                  </a:lnTo>
                  <a:lnTo>
                    <a:pt x="0" y="6875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4401" r="0" b="-25370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0728960" cy="687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1B43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3. Nutrientes símbolos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02460" y="8811685"/>
            <a:ext cx="8046720" cy="477469"/>
            <a:chOff x="0" y="0"/>
            <a:chExt cx="10728960" cy="63662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28960" cy="636625"/>
            </a:xfrm>
            <a:custGeom>
              <a:avLst/>
              <a:gdLst/>
              <a:ahLst/>
              <a:cxnLst/>
              <a:rect r="r" b="b" t="t" l="l"/>
              <a:pathLst>
                <a:path h="636625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36625"/>
                  </a:lnTo>
                  <a:lnTo>
                    <a:pt x="0" y="6366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86" r="0" b="-27817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9525"/>
              <a:ext cx="10728960" cy="62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Valores '&lt;0.03' → imputación con la mitad del límite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38820" y="5690028"/>
            <a:ext cx="135131" cy="939803"/>
            <a:chOff x="0" y="0"/>
            <a:chExt cx="180175" cy="12530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146304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0086" cy="1252984"/>
            </a:xfrm>
            <a:custGeom>
              <a:avLst/>
              <a:gdLst/>
              <a:ahLst/>
              <a:cxnLst/>
              <a:rect r="r" b="b" t="t" l="l"/>
              <a:pathLst>
                <a:path h="125298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36091"/>
                  </a:lnTo>
                  <a:cubicBezTo>
                    <a:pt x="180086" y="1245489"/>
                    <a:pt x="172466" y="1252982"/>
                    <a:pt x="163195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63195" y="1219200"/>
                  </a:lnTo>
                  <a:lnTo>
                    <a:pt x="163195" y="1236091"/>
                  </a:lnTo>
                  <a:lnTo>
                    <a:pt x="146304" y="12360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680700" y="5702725"/>
            <a:ext cx="8046720" cy="515671"/>
            <a:chOff x="0" y="0"/>
            <a:chExt cx="10728960" cy="68756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28960" cy="687561"/>
            </a:xfrm>
            <a:custGeom>
              <a:avLst/>
              <a:gdLst/>
              <a:ahLst/>
              <a:cxnLst/>
              <a:rect r="r" b="b" t="t" l="l"/>
              <a:pathLst>
                <a:path h="687561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7561"/>
                  </a:lnTo>
                  <a:lnTo>
                    <a:pt x="0" y="6875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4401" r="0" b="-25370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0728960" cy="687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1B43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4. Top 50 cultivos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80700" y="6178213"/>
            <a:ext cx="8046720" cy="477469"/>
            <a:chOff x="0" y="0"/>
            <a:chExt cx="10728960" cy="63662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728960" cy="636625"/>
            </a:xfrm>
            <a:custGeom>
              <a:avLst/>
              <a:gdLst/>
              <a:ahLst/>
              <a:cxnLst/>
              <a:rect r="r" b="b" t="t" l="l"/>
              <a:pathLst>
                <a:path h="636625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36625"/>
                  </a:lnTo>
                  <a:lnTo>
                    <a:pt x="0" y="6366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86" r="0" b="-27817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10728960" cy="62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171 cultivos → top 50 + categoría OTROS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338820" y="7006764"/>
            <a:ext cx="135131" cy="939803"/>
            <a:chOff x="0" y="0"/>
            <a:chExt cx="180175" cy="125307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146304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80086" cy="1252984"/>
            </a:xfrm>
            <a:custGeom>
              <a:avLst/>
              <a:gdLst/>
              <a:ahLst/>
              <a:cxnLst/>
              <a:rect r="r" b="b" t="t" l="l"/>
              <a:pathLst>
                <a:path h="125298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36091"/>
                  </a:lnTo>
                  <a:cubicBezTo>
                    <a:pt x="180086" y="1245489"/>
                    <a:pt x="172466" y="1252982"/>
                    <a:pt x="163195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63195" y="1219200"/>
                  </a:lnTo>
                  <a:lnTo>
                    <a:pt x="163195" y="1236091"/>
                  </a:lnTo>
                  <a:lnTo>
                    <a:pt x="146304" y="12360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680700" y="7019461"/>
            <a:ext cx="8046720" cy="515671"/>
            <a:chOff x="0" y="0"/>
            <a:chExt cx="10728960" cy="68756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728960" cy="687561"/>
            </a:xfrm>
            <a:custGeom>
              <a:avLst/>
              <a:gdLst/>
              <a:ahLst/>
              <a:cxnLst/>
              <a:rect r="r" b="b" t="t" l="l"/>
              <a:pathLst>
                <a:path h="687561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7561"/>
                  </a:lnTo>
                  <a:lnTo>
                    <a:pt x="0" y="6875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4401" r="0" b="-25370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10728960" cy="687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1B43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5. Fertilizante binario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680700" y="7494949"/>
            <a:ext cx="8046720" cy="477469"/>
            <a:chOff x="0" y="0"/>
            <a:chExt cx="10728960" cy="63662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728960" cy="636625"/>
            </a:xfrm>
            <a:custGeom>
              <a:avLst/>
              <a:gdLst/>
              <a:ahLst/>
              <a:cxnLst/>
              <a:rect r="r" b="b" t="t" l="l"/>
              <a:pathLst>
                <a:path h="636625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36625"/>
                  </a:lnTo>
                  <a:lnTo>
                    <a:pt x="0" y="6366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86" r="0" b="-27817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9525"/>
              <a:ext cx="10728960" cy="62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159 valores únicos → 0/1 (no aplicó / sí aplicó)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338820" y="8323500"/>
            <a:ext cx="135131" cy="939803"/>
            <a:chOff x="0" y="0"/>
            <a:chExt cx="180175" cy="125307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146304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80086" cy="1252984"/>
            </a:xfrm>
            <a:custGeom>
              <a:avLst/>
              <a:gdLst/>
              <a:ahLst/>
              <a:cxnLst/>
              <a:rect r="r" b="b" t="t" l="l"/>
              <a:pathLst>
                <a:path h="125298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36091"/>
                  </a:lnTo>
                  <a:cubicBezTo>
                    <a:pt x="180086" y="1245489"/>
                    <a:pt x="172466" y="1252982"/>
                    <a:pt x="163195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63195" y="1219200"/>
                  </a:lnTo>
                  <a:lnTo>
                    <a:pt x="163195" y="1236091"/>
                  </a:lnTo>
                  <a:lnTo>
                    <a:pt x="146304" y="12360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680700" y="8336197"/>
            <a:ext cx="8046720" cy="515671"/>
            <a:chOff x="0" y="0"/>
            <a:chExt cx="10728960" cy="68756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28960" cy="687561"/>
            </a:xfrm>
            <a:custGeom>
              <a:avLst/>
              <a:gdLst/>
              <a:ahLst/>
              <a:cxnLst/>
              <a:rect r="r" b="b" t="t" l="l"/>
              <a:pathLst>
                <a:path h="687561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7561"/>
                  </a:lnTo>
                  <a:lnTo>
                    <a:pt x="0" y="6875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4401" r="0" b="-25370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10728960" cy="687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1B43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6. Outliers Fe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680700" y="8811685"/>
            <a:ext cx="8046720" cy="477469"/>
            <a:chOff x="0" y="0"/>
            <a:chExt cx="10728960" cy="63662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28960" cy="636625"/>
            </a:xfrm>
            <a:custGeom>
              <a:avLst/>
              <a:gdLst/>
              <a:ahLst/>
              <a:cxnLst/>
              <a:rect r="r" b="b" t="t" l="l"/>
              <a:pathLst>
                <a:path h="636625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36625"/>
                  </a:lnTo>
                  <a:lnTo>
                    <a:pt x="0" y="6366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86" r="0" b="-27817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9525"/>
              <a:ext cx="10728960" cy="62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Eliminados valores &gt;percentil 99 (&gt;10.000 mg/kg)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4552" y="1028700"/>
            <a:ext cx="8706103" cy="769748"/>
            <a:chOff x="0" y="0"/>
            <a:chExt cx="11608138" cy="102633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608138" cy="1026330"/>
              <a:chOff x="0" y="0"/>
              <a:chExt cx="2309889" cy="20422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09889" cy="204228"/>
              </a:xfrm>
              <a:custGeom>
                <a:avLst/>
                <a:gdLst/>
                <a:ahLst/>
                <a:cxnLst/>
                <a:rect r="r" b="b" t="t" l="l"/>
                <a:pathLst>
                  <a:path h="204228" w="2309889">
                    <a:moveTo>
                      <a:pt x="45352" y="0"/>
                    </a:moveTo>
                    <a:lnTo>
                      <a:pt x="2264538" y="0"/>
                    </a:lnTo>
                    <a:cubicBezTo>
                      <a:pt x="2289585" y="0"/>
                      <a:pt x="2309889" y="20305"/>
                      <a:pt x="2309889" y="45352"/>
                    </a:cubicBezTo>
                    <a:lnTo>
                      <a:pt x="2309889" y="158876"/>
                    </a:lnTo>
                    <a:cubicBezTo>
                      <a:pt x="2309889" y="183923"/>
                      <a:pt x="2289585" y="204228"/>
                      <a:pt x="2264538" y="204228"/>
                    </a:cubicBezTo>
                    <a:lnTo>
                      <a:pt x="45352" y="204228"/>
                    </a:lnTo>
                    <a:cubicBezTo>
                      <a:pt x="20305" y="204228"/>
                      <a:pt x="0" y="183923"/>
                      <a:pt x="0" y="158876"/>
                    </a:cubicBezTo>
                    <a:lnTo>
                      <a:pt x="0" y="45352"/>
                    </a:lnTo>
                    <a:cubicBezTo>
                      <a:pt x="0" y="20305"/>
                      <a:pt x="20305" y="0"/>
                      <a:pt x="45352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2309889" cy="25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162730"/>
              <a:ext cx="10869919" cy="643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01"/>
                </a:lnSpc>
              </a:pPr>
              <a:r>
                <a:rPr lang="en-US" sz="292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2.Manejo de Atípicos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001414" y="9032398"/>
            <a:ext cx="515772" cy="4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sz="26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4552" y="151262"/>
            <a:ext cx="3903640" cy="8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7"/>
              </a:lnSpc>
            </a:pPr>
            <a:r>
              <a:rPr lang="en-US" sz="5205" spc="-182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DATA REAL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64552" y="2111083"/>
            <a:ext cx="8229600" cy="731520"/>
            <a:chOff x="0" y="0"/>
            <a:chExt cx="1097280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9728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Distribución de Nutrientes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739279" y="3432657"/>
            <a:ext cx="11709747" cy="4644867"/>
            <a:chOff x="0" y="0"/>
            <a:chExt cx="15612996" cy="61931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612996" cy="6193156"/>
            </a:xfrm>
            <a:custGeom>
              <a:avLst/>
              <a:gdLst/>
              <a:ahLst/>
              <a:cxnLst/>
              <a:rect r="r" b="b" t="t" l="l"/>
              <a:pathLst>
                <a:path h="6193156" w="15612996">
                  <a:moveTo>
                    <a:pt x="0" y="0"/>
                  </a:moveTo>
                  <a:lnTo>
                    <a:pt x="15612996" y="0"/>
                  </a:lnTo>
                  <a:lnTo>
                    <a:pt x="15612996" y="6193156"/>
                  </a:lnTo>
                  <a:lnTo>
                    <a:pt x="0" y="6193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8" t="0" r="-1348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5612996" cy="6183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Macronutrientes (N, P, K, Ca, Mg, Na, S) en rangos 0–9%.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Micronutrientes (Fe, Cu, Mn, Zn, B) con rangos amplios en mg/kg.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Hierro (Fe): valores desde 6 hasta 50.891 mg/kg — alta variabilidad.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Transformación log1p aplicada para visualización de distribuciones.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E29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Robust Scaler </a:t>
              </a: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Usa mediana e IQR en lugar de media y desviación estándar,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siendo insensible a los outliers extremos de Fe, Mn y Zn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Produce rangos comparables entre macronutrientes (%) y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micronutrientes (mg/kg), eliminando el sesgo por unidades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16372" y="2590838"/>
            <a:ext cx="13217669" cy="5105325"/>
          </a:xfrm>
          <a:custGeom>
            <a:avLst/>
            <a:gdLst/>
            <a:ahLst/>
            <a:cxnLst/>
            <a:rect r="r" b="b" t="t" l="l"/>
            <a:pathLst>
              <a:path h="5105325" w="13217669">
                <a:moveTo>
                  <a:pt x="0" y="0"/>
                </a:moveTo>
                <a:lnTo>
                  <a:pt x="13217669" y="0"/>
                </a:lnTo>
                <a:lnTo>
                  <a:pt x="13217669" y="5105324"/>
                </a:lnTo>
                <a:lnTo>
                  <a:pt x="0" y="5105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01414" y="9032398"/>
            <a:ext cx="515772" cy="4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sz="26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4552" y="151262"/>
            <a:ext cx="3903640" cy="8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7"/>
              </a:lnSpc>
            </a:pPr>
            <a:r>
              <a:rPr lang="en-US" sz="5205" spc="-182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DATA REAL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11075" y="8491287"/>
            <a:ext cx="1022826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IMAGEN #4: DISTRIBUCIÓN DE DATOS: BOXPLOTS CON OUTLIERS.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51209" y="1028700"/>
            <a:ext cx="11905406" cy="7381351"/>
          </a:xfrm>
          <a:custGeom>
            <a:avLst/>
            <a:gdLst/>
            <a:ahLst/>
            <a:cxnLst/>
            <a:rect r="r" b="b" t="t" l="l"/>
            <a:pathLst>
              <a:path h="7381351" w="11905406">
                <a:moveTo>
                  <a:pt x="0" y="0"/>
                </a:moveTo>
                <a:lnTo>
                  <a:pt x="11905406" y="0"/>
                </a:lnTo>
                <a:lnTo>
                  <a:pt x="11905406" y="7381351"/>
                </a:lnTo>
                <a:lnTo>
                  <a:pt x="0" y="7381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01414" y="9032398"/>
            <a:ext cx="515772" cy="4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sz="26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4552" y="151262"/>
            <a:ext cx="3903640" cy="8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7"/>
              </a:lnSpc>
            </a:pPr>
            <a:r>
              <a:rPr lang="en-US" sz="5205" spc="-182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DATA REAL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96425" y="8936729"/>
            <a:ext cx="1019740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IMAGEN #5: DISTRIBUCIÓN DE DATOS: BOXPLOTS CON OUTLIERS.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51209" y="1028700"/>
            <a:ext cx="11905406" cy="7381351"/>
          </a:xfrm>
          <a:custGeom>
            <a:avLst/>
            <a:gdLst/>
            <a:ahLst/>
            <a:cxnLst/>
            <a:rect r="r" b="b" t="t" l="l"/>
            <a:pathLst>
              <a:path h="7381351" w="11905406">
                <a:moveTo>
                  <a:pt x="0" y="0"/>
                </a:moveTo>
                <a:lnTo>
                  <a:pt x="11905406" y="0"/>
                </a:lnTo>
                <a:lnTo>
                  <a:pt x="11905406" y="7381351"/>
                </a:lnTo>
                <a:lnTo>
                  <a:pt x="0" y="7381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01414" y="9032398"/>
            <a:ext cx="515772" cy="4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sz="26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4552" y="151262"/>
            <a:ext cx="3903640" cy="8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7"/>
              </a:lnSpc>
            </a:pPr>
            <a:r>
              <a:rPr lang="en-US" sz="5205" spc="-182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DATA REAL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22172" y="8936729"/>
            <a:ext cx="1014591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IMAGEN #6 DISTRIBUCIÓN DE DATOS: BOXPLOTS CON OUTLIERS.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4552" y="1028700"/>
            <a:ext cx="8706103" cy="769748"/>
            <a:chOff x="0" y="0"/>
            <a:chExt cx="11608138" cy="102633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608138" cy="1026330"/>
              <a:chOff x="0" y="0"/>
              <a:chExt cx="2309889" cy="20422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09889" cy="204228"/>
              </a:xfrm>
              <a:custGeom>
                <a:avLst/>
                <a:gdLst/>
                <a:ahLst/>
                <a:cxnLst/>
                <a:rect r="r" b="b" t="t" l="l"/>
                <a:pathLst>
                  <a:path h="204228" w="2309889">
                    <a:moveTo>
                      <a:pt x="45352" y="0"/>
                    </a:moveTo>
                    <a:lnTo>
                      <a:pt x="2264538" y="0"/>
                    </a:lnTo>
                    <a:cubicBezTo>
                      <a:pt x="2289585" y="0"/>
                      <a:pt x="2309889" y="20305"/>
                      <a:pt x="2309889" y="45352"/>
                    </a:cubicBezTo>
                    <a:lnTo>
                      <a:pt x="2309889" y="158876"/>
                    </a:lnTo>
                    <a:cubicBezTo>
                      <a:pt x="2309889" y="183923"/>
                      <a:pt x="2289585" y="204228"/>
                      <a:pt x="2264538" y="204228"/>
                    </a:cubicBezTo>
                    <a:lnTo>
                      <a:pt x="45352" y="204228"/>
                    </a:lnTo>
                    <a:cubicBezTo>
                      <a:pt x="20305" y="204228"/>
                      <a:pt x="0" y="183923"/>
                      <a:pt x="0" y="158876"/>
                    </a:cubicBezTo>
                    <a:lnTo>
                      <a:pt x="0" y="45352"/>
                    </a:lnTo>
                    <a:cubicBezTo>
                      <a:pt x="0" y="20305"/>
                      <a:pt x="20305" y="0"/>
                      <a:pt x="45352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2309889" cy="25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162730"/>
              <a:ext cx="10869919" cy="643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0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4552" y="151262"/>
            <a:ext cx="3903640" cy="8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7"/>
              </a:lnSpc>
            </a:pPr>
            <a:r>
              <a:rPr lang="en-US" sz="5205" spc="-182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DATA REAL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1066928"/>
            <a:ext cx="7863840" cy="731520"/>
            <a:chOff x="0" y="0"/>
            <a:chExt cx="1048512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0485120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Serie de Tiempo — Nitrógeno 2018–2024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4552" y="1485900"/>
            <a:ext cx="9468536" cy="3657600"/>
            <a:chOff x="0" y="0"/>
            <a:chExt cx="12624714" cy="4876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24714" cy="4876800"/>
            </a:xfrm>
            <a:custGeom>
              <a:avLst/>
              <a:gdLst/>
              <a:ahLst/>
              <a:cxnLst/>
              <a:rect r="r" b="b" t="t" l="l"/>
              <a:pathLst>
                <a:path h="4876800" w="12624714">
                  <a:moveTo>
                    <a:pt x="0" y="0"/>
                  </a:moveTo>
                  <a:lnTo>
                    <a:pt x="12624714" y="0"/>
                  </a:lnTo>
                  <a:lnTo>
                    <a:pt x="12624714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036" t="0" r="8911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2624714" cy="4867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Promedio mensual de %_N oscila entre 1% y 4.7%. 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2020–2021: mayor estabilidad (~2.2%) por pandemia.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Pico en 2022–2023 (~4.7%) seguido de caída abrupta.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Serie mensual 2019–2024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36711" y="4902868"/>
            <a:ext cx="14030394" cy="3946048"/>
          </a:xfrm>
          <a:custGeom>
            <a:avLst/>
            <a:gdLst/>
            <a:ahLst/>
            <a:cxnLst/>
            <a:rect r="r" b="b" t="t" l="l"/>
            <a:pathLst>
              <a:path h="3946048" w="14030394">
                <a:moveTo>
                  <a:pt x="0" y="0"/>
                </a:moveTo>
                <a:lnTo>
                  <a:pt x="14030394" y="0"/>
                </a:lnTo>
                <a:lnTo>
                  <a:pt x="14030394" y="3946049"/>
                </a:lnTo>
                <a:lnTo>
                  <a:pt x="0" y="39460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001414" y="9032398"/>
            <a:ext cx="515772" cy="4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sz="26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4000" y="1798448"/>
            <a:ext cx="9468536" cy="3657600"/>
            <a:chOff x="0" y="0"/>
            <a:chExt cx="12624714" cy="4876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24714" cy="4876800"/>
            </a:xfrm>
            <a:custGeom>
              <a:avLst/>
              <a:gdLst/>
              <a:ahLst/>
              <a:cxnLst/>
              <a:rect r="r" b="b" t="t" l="l"/>
              <a:pathLst>
                <a:path h="4876800" w="12624714">
                  <a:moveTo>
                    <a:pt x="0" y="0"/>
                  </a:moveTo>
                  <a:lnTo>
                    <a:pt x="12624714" y="0"/>
                  </a:lnTo>
                  <a:lnTo>
                    <a:pt x="12624714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036" t="0" r="891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12624714" cy="4867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Prueba Dickey-Fuller → serie estacionaria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Parámetros definidos con ACF y PACF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Modelos evaluados: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ARIMA(1,0,1)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SARIMAX estacional (m=12)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Evaluación con MAE y RMSE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866581" y="9201150"/>
            <a:ext cx="8750102" cy="4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  <a:spcBef>
                <a:spcPct val="0"/>
              </a:spcBef>
            </a:pPr>
            <a:r>
              <a:rPr lang="en-US" sz="265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IMAGEN #6: SERIE DE TIEMPO . ((AUTORÍA PROPIA)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4552" y="1028700"/>
            <a:ext cx="8706103" cy="769748"/>
            <a:chOff x="0" y="0"/>
            <a:chExt cx="11608138" cy="102633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608138" cy="1026330"/>
              <a:chOff x="0" y="0"/>
              <a:chExt cx="2309889" cy="20422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09889" cy="204228"/>
              </a:xfrm>
              <a:custGeom>
                <a:avLst/>
                <a:gdLst/>
                <a:ahLst/>
                <a:cxnLst/>
                <a:rect r="r" b="b" t="t" l="l"/>
                <a:pathLst>
                  <a:path h="204228" w="2309889">
                    <a:moveTo>
                      <a:pt x="45352" y="0"/>
                    </a:moveTo>
                    <a:lnTo>
                      <a:pt x="2264538" y="0"/>
                    </a:lnTo>
                    <a:cubicBezTo>
                      <a:pt x="2289585" y="0"/>
                      <a:pt x="2309889" y="20305"/>
                      <a:pt x="2309889" y="45352"/>
                    </a:cubicBezTo>
                    <a:lnTo>
                      <a:pt x="2309889" y="158876"/>
                    </a:lnTo>
                    <a:cubicBezTo>
                      <a:pt x="2309889" y="183923"/>
                      <a:pt x="2289585" y="204228"/>
                      <a:pt x="2264538" y="204228"/>
                    </a:cubicBezTo>
                    <a:lnTo>
                      <a:pt x="45352" y="204228"/>
                    </a:lnTo>
                    <a:cubicBezTo>
                      <a:pt x="20305" y="204228"/>
                      <a:pt x="0" y="183923"/>
                      <a:pt x="0" y="158876"/>
                    </a:cubicBezTo>
                    <a:lnTo>
                      <a:pt x="0" y="45352"/>
                    </a:lnTo>
                    <a:cubicBezTo>
                      <a:pt x="0" y="20305"/>
                      <a:pt x="20305" y="0"/>
                      <a:pt x="45352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2309889" cy="25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162730"/>
              <a:ext cx="10869919" cy="643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0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66928"/>
            <a:ext cx="7863840" cy="731520"/>
            <a:chOff x="0" y="0"/>
            <a:chExt cx="1048512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0485120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Serie de Tiempo — Nitrógeno 2018–2024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4552" y="2095514"/>
            <a:ext cx="10244409" cy="3657600"/>
            <a:chOff x="0" y="0"/>
            <a:chExt cx="13659212" cy="4876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59211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659211">
                  <a:moveTo>
                    <a:pt x="0" y="0"/>
                  </a:moveTo>
                  <a:lnTo>
                    <a:pt x="13659211" y="0"/>
                  </a:lnTo>
                  <a:lnTo>
                    <a:pt x="13659211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427" t="0" r="1581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13659212" cy="4867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Alta variabilidad en la serie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Influencia del mix de 171 cultivos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Cambios metodológicos &gt; cambios biológicos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Promedio nacional poco representativo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E29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Recomendación: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análisis por cultivo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análisis por región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028768" y="4254164"/>
            <a:ext cx="12972646" cy="4572858"/>
          </a:xfrm>
          <a:custGeom>
            <a:avLst/>
            <a:gdLst/>
            <a:ahLst/>
            <a:cxnLst/>
            <a:rect r="r" b="b" t="t" l="l"/>
            <a:pathLst>
              <a:path h="4572858" w="12972646">
                <a:moveTo>
                  <a:pt x="0" y="0"/>
                </a:moveTo>
                <a:lnTo>
                  <a:pt x="12972646" y="0"/>
                </a:lnTo>
                <a:lnTo>
                  <a:pt x="12972646" y="4572858"/>
                </a:lnTo>
                <a:lnTo>
                  <a:pt x="0" y="4572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4552" y="151262"/>
            <a:ext cx="3903640" cy="8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7"/>
              </a:lnSpc>
            </a:pPr>
            <a:r>
              <a:rPr lang="en-US" sz="5205" spc="-182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DATA REAL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01414" y="9032398"/>
            <a:ext cx="515772" cy="4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sz="26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14549" y="9065147"/>
            <a:ext cx="5294412" cy="4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  <a:spcBef>
                <a:spcPct val="0"/>
              </a:spcBef>
            </a:pPr>
            <a:r>
              <a:rPr lang="en-US" sz="265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FIGURA #7: ARIMA VS. SARIMA.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7897" y="1324376"/>
            <a:ext cx="8706103" cy="769748"/>
            <a:chOff x="0" y="0"/>
            <a:chExt cx="11608138" cy="102633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608138" cy="1026330"/>
              <a:chOff x="0" y="0"/>
              <a:chExt cx="2309889" cy="20422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09889" cy="204228"/>
              </a:xfrm>
              <a:custGeom>
                <a:avLst/>
                <a:gdLst/>
                <a:ahLst/>
                <a:cxnLst/>
                <a:rect r="r" b="b" t="t" l="l"/>
                <a:pathLst>
                  <a:path h="204228" w="2309889">
                    <a:moveTo>
                      <a:pt x="45352" y="0"/>
                    </a:moveTo>
                    <a:lnTo>
                      <a:pt x="2264538" y="0"/>
                    </a:lnTo>
                    <a:cubicBezTo>
                      <a:pt x="2289585" y="0"/>
                      <a:pt x="2309889" y="20305"/>
                      <a:pt x="2309889" y="45352"/>
                    </a:cubicBezTo>
                    <a:lnTo>
                      <a:pt x="2309889" y="158876"/>
                    </a:lnTo>
                    <a:cubicBezTo>
                      <a:pt x="2309889" y="183923"/>
                      <a:pt x="2289585" y="204228"/>
                      <a:pt x="2264538" y="204228"/>
                    </a:cubicBezTo>
                    <a:lnTo>
                      <a:pt x="45352" y="204228"/>
                    </a:lnTo>
                    <a:cubicBezTo>
                      <a:pt x="20305" y="204228"/>
                      <a:pt x="0" y="183923"/>
                      <a:pt x="0" y="158876"/>
                    </a:cubicBezTo>
                    <a:lnTo>
                      <a:pt x="0" y="45352"/>
                    </a:lnTo>
                    <a:cubicBezTo>
                      <a:pt x="0" y="20305"/>
                      <a:pt x="20305" y="0"/>
                      <a:pt x="45352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2309889" cy="25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162730"/>
              <a:ext cx="10869919" cy="643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0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5284" y="1454044"/>
            <a:ext cx="16093440" cy="640080"/>
            <a:chOff x="0" y="0"/>
            <a:chExt cx="2145792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4579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>
                  <a:solidFill>
                    <a:srgbClr val="F8FA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PCA — Selección y Extracción de Características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5284" y="2420246"/>
            <a:ext cx="16093440" cy="2287219"/>
            <a:chOff x="0" y="0"/>
            <a:chExt cx="21457920" cy="30496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57920" cy="3049626"/>
            </a:xfrm>
            <a:custGeom>
              <a:avLst/>
              <a:gdLst/>
              <a:ahLst/>
              <a:cxnLst/>
              <a:rect r="r" b="b" t="t" l="l"/>
              <a:pathLst>
                <a:path h="3049626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3049626"/>
                  </a:lnTo>
                  <a:lnTo>
                    <a:pt x="0" y="3049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123" r="0" b="-7907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1457920" cy="3040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6A4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N–S: correlación 0.65 | Ca–B: 0.61 | Ca–Mg: 0.59 → ningún par supera 0.85, todos los 12 nutrientes conservados.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6A4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 necesitan 11 componentes para explicar el 95% de la varianza — información distribuida en múltiples dimensiones.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6A4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PC1 (29.5%) + PC2 (21.1%) = 50.6% de varianza. Clases BUENO/REGULAR/MALO se solapan → rendimiento depende de múltiples factores.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83087" y="5198060"/>
            <a:ext cx="6254775" cy="4855269"/>
          </a:xfrm>
          <a:custGeom>
            <a:avLst/>
            <a:gdLst/>
            <a:ahLst/>
            <a:cxnLst/>
            <a:rect r="r" b="b" t="t" l="l"/>
            <a:pathLst>
              <a:path h="4855269" w="6254775">
                <a:moveTo>
                  <a:pt x="0" y="0"/>
                </a:moveTo>
                <a:lnTo>
                  <a:pt x="6254775" y="0"/>
                </a:lnTo>
                <a:lnTo>
                  <a:pt x="6254775" y="4855269"/>
                </a:lnTo>
                <a:lnTo>
                  <a:pt x="0" y="48552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023930" y="5480345"/>
            <a:ext cx="8691416" cy="4290699"/>
          </a:xfrm>
          <a:custGeom>
            <a:avLst/>
            <a:gdLst/>
            <a:ahLst/>
            <a:cxnLst/>
            <a:rect r="r" b="b" t="t" l="l"/>
            <a:pathLst>
              <a:path h="4290699" w="8691416">
                <a:moveTo>
                  <a:pt x="0" y="0"/>
                </a:moveTo>
                <a:lnTo>
                  <a:pt x="8691416" y="0"/>
                </a:lnTo>
                <a:lnTo>
                  <a:pt x="8691416" y="4290699"/>
                </a:lnTo>
                <a:lnTo>
                  <a:pt x="0" y="4290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64552" y="151262"/>
            <a:ext cx="3903640" cy="8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7"/>
              </a:lnSpc>
            </a:pPr>
            <a:r>
              <a:rPr lang="en-US" sz="5205" spc="-182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DATA REAL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01414" y="9032398"/>
            <a:ext cx="515772" cy="4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sz="26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37862" y="9701453"/>
            <a:ext cx="7549495" cy="35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  <a:spcBef>
                <a:spcPct val="0"/>
              </a:spcBef>
            </a:pPr>
            <a:r>
              <a:rPr lang="en-US" sz="20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FIGURA #8: PCA Y MATRIZ DE CORRELACIÓN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823" y="1395370"/>
            <a:ext cx="16850363" cy="1978914"/>
            <a:chOff x="0" y="0"/>
            <a:chExt cx="22467151" cy="26385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1325"/>
              <a:ext cx="22433280" cy="2615842"/>
            </a:xfrm>
            <a:custGeom>
              <a:avLst/>
              <a:gdLst/>
              <a:ahLst/>
              <a:cxnLst/>
              <a:rect r="r" b="b" t="t" l="l"/>
              <a:pathLst>
                <a:path h="261584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615842"/>
                  </a:lnTo>
                  <a:lnTo>
                    <a:pt x="0" y="2615842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467063" cy="2638493"/>
            </a:xfrm>
            <a:custGeom>
              <a:avLst/>
              <a:gdLst/>
              <a:ahLst/>
              <a:cxnLst/>
              <a:rect r="r" b="b" t="t" l="l"/>
              <a:pathLst>
                <a:path h="2638493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5109"/>
                    <a:pt x="22467063" y="11325"/>
                  </a:cubicBezTo>
                  <a:lnTo>
                    <a:pt x="22467063" y="2627167"/>
                  </a:lnTo>
                  <a:cubicBezTo>
                    <a:pt x="22467063" y="2633469"/>
                    <a:pt x="22459443" y="2638493"/>
                    <a:pt x="22450171" y="2638493"/>
                  </a:cubicBezTo>
                  <a:lnTo>
                    <a:pt x="16891" y="2638493"/>
                  </a:lnTo>
                  <a:cubicBezTo>
                    <a:pt x="7493" y="2638493"/>
                    <a:pt x="0" y="2633383"/>
                    <a:pt x="0" y="2627167"/>
                  </a:cubicBezTo>
                  <a:lnTo>
                    <a:pt x="0" y="11325"/>
                  </a:lnTo>
                  <a:cubicBezTo>
                    <a:pt x="0" y="5109"/>
                    <a:pt x="7620" y="0"/>
                    <a:pt x="16891" y="0"/>
                  </a:cubicBezTo>
                  <a:moveTo>
                    <a:pt x="16891" y="22735"/>
                  </a:moveTo>
                  <a:lnTo>
                    <a:pt x="16891" y="11325"/>
                  </a:lnTo>
                  <a:lnTo>
                    <a:pt x="33909" y="11325"/>
                  </a:lnTo>
                  <a:lnTo>
                    <a:pt x="33909" y="2627167"/>
                  </a:lnTo>
                  <a:lnTo>
                    <a:pt x="16891" y="2627167"/>
                  </a:lnTo>
                  <a:lnTo>
                    <a:pt x="16891" y="2615842"/>
                  </a:lnTo>
                  <a:lnTo>
                    <a:pt x="22450171" y="2615842"/>
                  </a:lnTo>
                  <a:lnTo>
                    <a:pt x="22450171" y="2627167"/>
                  </a:lnTo>
                  <a:lnTo>
                    <a:pt x="22433280" y="2627167"/>
                  </a:lnTo>
                  <a:lnTo>
                    <a:pt x="22433280" y="11325"/>
                  </a:lnTo>
                  <a:lnTo>
                    <a:pt x="22450171" y="11325"/>
                  </a:lnTo>
                  <a:lnTo>
                    <a:pt x="22450171" y="22735"/>
                  </a:lnTo>
                  <a:lnTo>
                    <a:pt x="16891" y="22735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45284" y="1454044"/>
            <a:ext cx="16093440" cy="640080"/>
            <a:chOff x="0" y="0"/>
            <a:chExt cx="2145792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45792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B7E4C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PCA — Selección y Extracción de Características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774084"/>
            <a:ext cx="16093440" cy="1445104"/>
            <a:chOff x="0" y="0"/>
            <a:chExt cx="21457920" cy="19268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7920" cy="1926805"/>
            </a:xfrm>
            <a:custGeom>
              <a:avLst/>
              <a:gdLst/>
              <a:ahLst/>
              <a:cxnLst/>
              <a:rect r="r" b="b" t="t" l="l"/>
              <a:pathLst>
                <a:path h="1926805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926805"/>
                  </a:lnTo>
                  <a:lnTo>
                    <a:pt x="0" y="19268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556" r="0" b="-1834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21457920" cy="191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PC1 (29.5%) + PC2 (21.1%) = 50.6% de varianza. Clases BUENO/REGULAR/MALO se solapan → rendimiento depende de múltiples factores.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971533" y="3539228"/>
            <a:ext cx="7966321" cy="5949531"/>
          </a:xfrm>
          <a:custGeom>
            <a:avLst/>
            <a:gdLst/>
            <a:ahLst/>
            <a:cxnLst/>
            <a:rect r="r" b="b" t="t" l="l"/>
            <a:pathLst>
              <a:path h="5949531" w="7966321">
                <a:moveTo>
                  <a:pt x="0" y="0"/>
                </a:moveTo>
                <a:lnTo>
                  <a:pt x="7966322" y="0"/>
                </a:lnTo>
                <a:lnTo>
                  <a:pt x="7966322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4552" y="151262"/>
            <a:ext cx="3903640" cy="8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7"/>
              </a:lnSpc>
            </a:pPr>
            <a:r>
              <a:rPr lang="en-US" sz="5205" spc="-182">
                <a:solidFill>
                  <a:srgbClr val="015438"/>
                </a:solidFill>
                <a:latin typeface="Montserrat"/>
                <a:ea typeface="Montserrat"/>
                <a:cs typeface="Montserrat"/>
                <a:sym typeface="Montserrat"/>
              </a:rPr>
              <a:t>DATA REAL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01414" y="9032398"/>
            <a:ext cx="515772" cy="4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sz="26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69569" y="9593534"/>
            <a:ext cx="12870756" cy="4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  <a:spcBef>
                <a:spcPct val="0"/>
              </a:spcBef>
            </a:pPr>
            <a:r>
              <a:rPr lang="en-US" sz="265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FIGURA #9: COMPARACIÓN DE COMPONENTES PRINCIPALES 1 VS. 2 EN 2D.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01414" y="9051448"/>
            <a:ext cx="5157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3228" y="408585"/>
            <a:ext cx="8706103" cy="769748"/>
            <a:chOff x="0" y="0"/>
            <a:chExt cx="11608138" cy="102633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608138" cy="1026330"/>
              <a:chOff x="0" y="0"/>
              <a:chExt cx="2309889" cy="20422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309889" cy="204228"/>
              </a:xfrm>
              <a:custGeom>
                <a:avLst/>
                <a:gdLst/>
                <a:ahLst/>
                <a:cxnLst/>
                <a:rect r="r" b="b" t="t" l="l"/>
                <a:pathLst>
                  <a:path h="204228" w="2309889">
                    <a:moveTo>
                      <a:pt x="45352" y="0"/>
                    </a:moveTo>
                    <a:lnTo>
                      <a:pt x="2264538" y="0"/>
                    </a:lnTo>
                    <a:cubicBezTo>
                      <a:pt x="2289585" y="0"/>
                      <a:pt x="2309889" y="20305"/>
                      <a:pt x="2309889" y="45352"/>
                    </a:cubicBezTo>
                    <a:lnTo>
                      <a:pt x="2309889" y="158876"/>
                    </a:lnTo>
                    <a:cubicBezTo>
                      <a:pt x="2309889" y="183923"/>
                      <a:pt x="2289585" y="204228"/>
                      <a:pt x="2264538" y="204228"/>
                    </a:cubicBezTo>
                    <a:lnTo>
                      <a:pt x="45352" y="204228"/>
                    </a:lnTo>
                    <a:cubicBezTo>
                      <a:pt x="20305" y="204228"/>
                      <a:pt x="0" y="183923"/>
                      <a:pt x="0" y="158876"/>
                    </a:cubicBezTo>
                    <a:lnTo>
                      <a:pt x="0" y="45352"/>
                    </a:lnTo>
                    <a:cubicBezTo>
                      <a:pt x="0" y="20305"/>
                      <a:pt x="20305" y="0"/>
                      <a:pt x="45352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2309889" cy="25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162730"/>
              <a:ext cx="10869919" cy="643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3228" y="61939"/>
            <a:ext cx="15809976" cy="1463040"/>
            <a:chOff x="0" y="0"/>
            <a:chExt cx="21079968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79968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079968">
                  <a:moveTo>
                    <a:pt x="0" y="0"/>
                  </a:moveTo>
                  <a:lnTo>
                    <a:pt x="21079968" y="0"/>
                  </a:lnTo>
                  <a:lnTo>
                    <a:pt x="21079968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-4106" b="-16920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079968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8FAF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Modelos Supervisados de Machine Learning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38" y="1273583"/>
            <a:ext cx="16850363" cy="1031243"/>
            <a:chOff x="0" y="0"/>
            <a:chExt cx="22467151" cy="1374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B7E4C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67063" cy="1374902"/>
            </a:xfrm>
            <a:custGeom>
              <a:avLst/>
              <a:gdLst/>
              <a:ahLst/>
              <a:cxnLst/>
              <a:rect r="r" b="b" t="t" l="l"/>
              <a:pathLst>
                <a:path h="137490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358011"/>
                  </a:lnTo>
                  <a:cubicBezTo>
                    <a:pt x="22467063" y="1367409"/>
                    <a:pt x="22459443" y="1374902"/>
                    <a:pt x="2245017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2450171" y="1341120"/>
                  </a:lnTo>
                  <a:lnTo>
                    <a:pt x="22450171" y="1358011"/>
                  </a:lnTo>
                  <a:lnTo>
                    <a:pt x="22433280" y="135801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03504" y="1273583"/>
            <a:ext cx="16276320" cy="839419"/>
            <a:chOff x="0" y="0"/>
            <a:chExt cx="21701760" cy="11192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01761" cy="1119226"/>
            </a:xfrm>
            <a:custGeom>
              <a:avLst/>
              <a:gdLst/>
              <a:ahLst/>
              <a:cxnLst/>
              <a:rect r="r" b="b" t="t" l="l"/>
              <a:pathLst>
                <a:path h="1119226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119226"/>
                  </a:lnTo>
                  <a:lnTo>
                    <a:pt x="0" y="11192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794" r="0" b="-32683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21701760" cy="11097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433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Estrategia ante desbalance: class_weight='balanced' — penaliza más errores en clases minoritarias (MALO, REGULAR) sin eliminar datos. Métrica principal: F1-score.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8321040"/>
            <a:ext cx="16459200" cy="548640"/>
            <a:chOff x="0" y="0"/>
            <a:chExt cx="219456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194560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D6A4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KNN — Detalle por clase de rendimiento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8823" y="8948423"/>
            <a:ext cx="5511803" cy="1122683"/>
            <a:chOff x="0" y="0"/>
            <a:chExt cx="7349071" cy="14969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315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48982" cy="1496822"/>
            </a:xfrm>
            <a:custGeom>
              <a:avLst/>
              <a:gdLst/>
              <a:ahLst/>
              <a:cxnLst/>
              <a:rect r="r" b="b" t="t" l="l"/>
              <a:pathLst>
                <a:path h="14968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479931"/>
                  </a:lnTo>
                  <a:cubicBezTo>
                    <a:pt x="7348982" y="1489329"/>
                    <a:pt x="7341362" y="1496822"/>
                    <a:pt x="733209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7332091" y="1463040"/>
                  </a:lnTo>
                  <a:lnTo>
                    <a:pt x="7332091" y="1479931"/>
                  </a:lnTo>
                  <a:lnTo>
                    <a:pt x="7315200" y="14799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8961120"/>
            <a:ext cx="2011680" cy="1097280"/>
            <a:chOff x="0" y="0"/>
            <a:chExt cx="268224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268224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BUENO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926080" y="8961120"/>
            <a:ext cx="3200400" cy="1201369"/>
            <a:chOff x="0" y="0"/>
            <a:chExt cx="4267200" cy="160182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67200" cy="1601826"/>
            </a:xfrm>
            <a:custGeom>
              <a:avLst/>
              <a:gdLst/>
              <a:ahLst/>
              <a:cxnLst/>
              <a:rect r="r" b="b" t="t" l="l"/>
              <a:pathLst>
                <a:path h="160182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601826"/>
                  </a:lnTo>
                  <a:lnTo>
                    <a:pt x="0" y="1601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39" r="0" b="242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4267200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Precisión: 0.95  ·  Recall: 0.97  ·  F1: 0.96 ✅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70983" y="8948423"/>
            <a:ext cx="5511803" cy="1122683"/>
            <a:chOff x="0" y="0"/>
            <a:chExt cx="7349071" cy="14969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315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48982" cy="1496822"/>
            </a:xfrm>
            <a:custGeom>
              <a:avLst/>
              <a:gdLst/>
              <a:ahLst/>
              <a:cxnLst/>
              <a:rect r="r" b="b" t="t" l="l"/>
              <a:pathLst>
                <a:path h="14968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479931"/>
                  </a:lnTo>
                  <a:cubicBezTo>
                    <a:pt x="7348982" y="1489329"/>
                    <a:pt x="7341362" y="1496822"/>
                    <a:pt x="733209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7332091" y="1463040"/>
                  </a:lnTo>
                  <a:lnTo>
                    <a:pt x="7332091" y="1479931"/>
                  </a:lnTo>
                  <a:lnTo>
                    <a:pt x="7315200" y="14799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766560" y="8961120"/>
            <a:ext cx="2011680" cy="1097280"/>
            <a:chOff x="0" y="0"/>
            <a:chExt cx="268224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268224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REGULAR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778240" y="8961120"/>
            <a:ext cx="3304546" cy="1201369"/>
            <a:chOff x="0" y="0"/>
            <a:chExt cx="4406062" cy="160182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06062" cy="1601826"/>
            </a:xfrm>
            <a:custGeom>
              <a:avLst/>
              <a:gdLst/>
              <a:ahLst/>
              <a:cxnLst/>
              <a:rect r="r" b="b" t="t" l="l"/>
              <a:pathLst>
                <a:path h="1601826" w="4406062">
                  <a:moveTo>
                    <a:pt x="0" y="0"/>
                  </a:moveTo>
                  <a:lnTo>
                    <a:pt x="4406062" y="0"/>
                  </a:lnTo>
                  <a:lnTo>
                    <a:pt x="4406062" y="1601826"/>
                  </a:lnTo>
                  <a:lnTo>
                    <a:pt x="0" y="1601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39" r="3151" b="242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4406062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Precisión: 0.91  ·  Recall: 0.86  ·  F1: 0.89 ✅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423143" y="8948423"/>
            <a:ext cx="5511803" cy="1122683"/>
            <a:chOff x="0" y="0"/>
            <a:chExt cx="7349071" cy="14969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315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B8504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48982" cy="1496822"/>
            </a:xfrm>
            <a:custGeom>
              <a:avLst/>
              <a:gdLst/>
              <a:ahLst/>
              <a:cxnLst/>
              <a:rect r="r" b="b" t="t" l="l"/>
              <a:pathLst>
                <a:path h="14968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479931"/>
                  </a:lnTo>
                  <a:cubicBezTo>
                    <a:pt x="7348982" y="1489329"/>
                    <a:pt x="7341362" y="1496822"/>
                    <a:pt x="733209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7332091" y="1463040"/>
                  </a:lnTo>
                  <a:lnTo>
                    <a:pt x="7332091" y="1479931"/>
                  </a:lnTo>
                  <a:lnTo>
                    <a:pt x="7315200" y="14799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504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618720" y="8961120"/>
            <a:ext cx="2011680" cy="1097280"/>
            <a:chOff x="0" y="0"/>
            <a:chExt cx="268224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268224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MALO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630400" y="8961120"/>
            <a:ext cx="3200400" cy="1201369"/>
            <a:chOff x="0" y="0"/>
            <a:chExt cx="4267200" cy="160182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67200" cy="1601826"/>
            </a:xfrm>
            <a:custGeom>
              <a:avLst/>
              <a:gdLst/>
              <a:ahLst/>
              <a:cxnLst/>
              <a:rect r="r" b="b" t="t" l="l"/>
              <a:pathLst>
                <a:path h="160182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601826"/>
                  </a:lnTo>
                  <a:lnTo>
                    <a:pt x="0" y="1601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39" r="0" b="242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4267200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Precisión: 0.79  ·  Recall: 0.66  ·  F1: 0.72 ⚠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4587585" y="2748838"/>
            <a:ext cx="8381319" cy="4789325"/>
          </a:xfrm>
          <a:custGeom>
            <a:avLst/>
            <a:gdLst/>
            <a:ahLst/>
            <a:cxnLst/>
            <a:rect r="r" b="b" t="t" l="l"/>
            <a:pathLst>
              <a:path h="4789325" w="8381319">
                <a:moveTo>
                  <a:pt x="0" y="0"/>
                </a:moveTo>
                <a:lnTo>
                  <a:pt x="8381319" y="0"/>
                </a:lnTo>
                <a:lnTo>
                  <a:pt x="8381319" y="4789324"/>
                </a:lnTo>
                <a:lnTo>
                  <a:pt x="0" y="4789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81883" y="487684"/>
            <a:ext cx="5262117" cy="4302360"/>
          </a:xfrm>
          <a:custGeom>
            <a:avLst/>
            <a:gdLst/>
            <a:ahLst/>
            <a:cxnLst/>
            <a:rect r="r" b="b" t="t" l="l"/>
            <a:pathLst>
              <a:path h="4302360" w="5262117">
                <a:moveTo>
                  <a:pt x="0" y="0"/>
                </a:moveTo>
                <a:lnTo>
                  <a:pt x="5262117" y="0"/>
                </a:lnTo>
                <a:lnTo>
                  <a:pt x="5262117" y="4302360"/>
                </a:lnTo>
                <a:lnTo>
                  <a:pt x="0" y="4302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36887" y="569201"/>
            <a:ext cx="5062713" cy="4139325"/>
          </a:xfrm>
          <a:custGeom>
            <a:avLst/>
            <a:gdLst/>
            <a:ahLst/>
            <a:cxnLst/>
            <a:rect r="r" b="b" t="t" l="l"/>
            <a:pathLst>
              <a:path h="4139325" w="5062713">
                <a:moveTo>
                  <a:pt x="0" y="0"/>
                </a:moveTo>
                <a:lnTo>
                  <a:pt x="5062713" y="0"/>
                </a:lnTo>
                <a:lnTo>
                  <a:pt x="5062713" y="4139325"/>
                </a:lnTo>
                <a:lnTo>
                  <a:pt x="0" y="4139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81883" y="4966258"/>
            <a:ext cx="5262117" cy="4302360"/>
          </a:xfrm>
          <a:custGeom>
            <a:avLst/>
            <a:gdLst/>
            <a:ahLst/>
            <a:cxnLst/>
            <a:rect r="r" b="b" t="t" l="l"/>
            <a:pathLst>
              <a:path h="4302360" w="5262117">
                <a:moveTo>
                  <a:pt x="0" y="0"/>
                </a:moveTo>
                <a:lnTo>
                  <a:pt x="5262117" y="0"/>
                </a:lnTo>
                <a:lnTo>
                  <a:pt x="5262117" y="4302360"/>
                </a:lnTo>
                <a:lnTo>
                  <a:pt x="0" y="43023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36887" y="4966258"/>
            <a:ext cx="5249497" cy="4292042"/>
          </a:xfrm>
          <a:custGeom>
            <a:avLst/>
            <a:gdLst/>
            <a:ahLst/>
            <a:cxnLst/>
            <a:rect r="r" b="b" t="t" l="l"/>
            <a:pathLst>
              <a:path h="4292042" w="5249497">
                <a:moveTo>
                  <a:pt x="0" y="0"/>
                </a:moveTo>
                <a:lnTo>
                  <a:pt x="5249497" y="0"/>
                </a:lnTo>
                <a:lnTo>
                  <a:pt x="5249497" y="4292042"/>
                </a:lnTo>
                <a:lnTo>
                  <a:pt x="0" y="42920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001414" y="9051448"/>
            <a:ext cx="5157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4552" y="426681"/>
            <a:ext cx="10689906" cy="945145"/>
            <a:chOff x="0" y="0"/>
            <a:chExt cx="14253208" cy="126019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4253208" cy="1260193"/>
              <a:chOff x="0" y="0"/>
              <a:chExt cx="2309889" cy="20422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09889" cy="204228"/>
              </a:xfrm>
              <a:custGeom>
                <a:avLst/>
                <a:gdLst/>
                <a:ahLst/>
                <a:cxnLst/>
                <a:rect r="r" b="b" t="t" l="l"/>
                <a:pathLst>
                  <a:path h="204228" w="2309889">
                    <a:moveTo>
                      <a:pt x="45352" y="0"/>
                    </a:moveTo>
                    <a:lnTo>
                      <a:pt x="2264538" y="0"/>
                    </a:lnTo>
                    <a:cubicBezTo>
                      <a:pt x="2289585" y="0"/>
                      <a:pt x="2309889" y="20305"/>
                      <a:pt x="2309889" y="45352"/>
                    </a:cubicBezTo>
                    <a:lnTo>
                      <a:pt x="2309889" y="158876"/>
                    </a:lnTo>
                    <a:cubicBezTo>
                      <a:pt x="2309889" y="183923"/>
                      <a:pt x="2289585" y="204228"/>
                      <a:pt x="2264538" y="204228"/>
                    </a:cubicBezTo>
                    <a:lnTo>
                      <a:pt x="45352" y="204228"/>
                    </a:lnTo>
                    <a:cubicBezTo>
                      <a:pt x="20305" y="204228"/>
                      <a:pt x="0" y="183923"/>
                      <a:pt x="0" y="158876"/>
                    </a:cubicBezTo>
                    <a:lnTo>
                      <a:pt x="0" y="45352"/>
                    </a:lnTo>
                    <a:cubicBezTo>
                      <a:pt x="0" y="20305"/>
                      <a:pt x="20305" y="0"/>
                      <a:pt x="45352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2309889" cy="25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203307"/>
              <a:ext cx="13346776" cy="7869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7200" y="297180"/>
            <a:ext cx="14810260" cy="1316468"/>
            <a:chOff x="0" y="0"/>
            <a:chExt cx="219456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94560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F8FAF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Optimización, Ensamble e Importancia de Variables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2011680"/>
            <a:ext cx="8229600" cy="731520"/>
            <a:chOff x="0" y="0"/>
            <a:chExt cx="109728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097280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>
                  <a:solidFill>
                    <a:srgbClr val="01543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GridSearchCV -5 Folds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7200" y="1431734"/>
            <a:ext cx="8229600" cy="8169466"/>
            <a:chOff x="0" y="0"/>
            <a:chExt cx="10972800" cy="108926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10892620"/>
            </a:xfrm>
            <a:custGeom>
              <a:avLst/>
              <a:gdLst/>
              <a:ahLst/>
              <a:cxnLst/>
              <a:rect r="r" b="b" t="t" l="l"/>
              <a:pathLst>
                <a:path h="108926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892620"/>
                  </a:lnTo>
                  <a:lnTo>
                    <a:pt x="0" y="108926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4627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10972800" cy="10883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8815" indent="-289408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154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 mayoría de modelos muestran diferencia Train-Test &lt; 0.07 -buena generalización.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578815" indent="-289408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154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Árbol de Decisión: sobreajuste leve de 0.11 incluso con max_depth optimizado.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578815" indent="-289408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154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KNN: Train=1.0, Test=0.9465, diferencia 0.0535 — aceptable y esperado.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</a:p>
            <a:p>
              <a:pPr algn="l" marL="578815" indent="-289408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154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Random Forest: sobreajuste mejoró de 0.0722 → 0.0665 con regularización.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154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Regresión Logística: modelo más estable (diff=0.0099) pero el menos preciso.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84080" y="2011680"/>
            <a:ext cx="7498080" cy="694944"/>
            <a:chOff x="0" y="0"/>
            <a:chExt cx="9997440" cy="926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999744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>
                  <a:solidFill>
                    <a:srgbClr val="01543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Ensamble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84080" y="2743200"/>
            <a:ext cx="7498080" cy="1737360"/>
            <a:chOff x="0" y="0"/>
            <a:chExt cx="9997440" cy="2316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97440" cy="2316480"/>
            </a:xfrm>
            <a:custGeom>
              <a:avLst/>
              <a:gdLst/>
              <a:ahLst/>
              <a:cxnLst/>
              <a:rect r="r" b="b" t="t" l="l"/>
              <a:pathLst>
                <a:path h="23164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093" r="0" b="-3409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9997440" cy="2306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D6A4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Combina los 5 modelos por votación mayoritaria. Si cada modelo comete errores distintos, el ensamble los compensa → mayor robustez y generalización.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507602" y="4518660"/>
            <a:ext cx="6051036" cy="5364836"/>
          </a:xfrm>
          <a:custGeom>
            <a:avLst/>
            <a:gdLst/>
            <a:ahLst/>
            <a:cxnLst/>
            <a:rect r="r" b="b" t="t" l="l"/>
            <a:pathLst>
              <a:path h="5364836" w="6051036">
                <a:moveTo>
                  <a:pt x="0" y="0"/>
                </a:moveTo>
                <a:lnTo>
                  <a:pt x="6051036" y="0"/>
                </a:lnTo>
                <a:lnTo>
                  <a:pt x="6051036" y="5364836"/>
                </a:lnTo>
                <a:lnTo>
                  <a:pt x="0" y="536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4552" y="426681"/>
            <a:ext cx="10689906" cy="945145"/>
            <a:chOff x="0" y="0"/>
            <a:chExt cx="14253208" cy="126019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4253208" cy="1260193"/>
              <a:chOff x="0" y="0"/>
              <a:chExt cx="2309889" cy="20422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09889" cy="204228"/>
              </a:xfrm>
              <a:custGeom>
                <a:avLst/>
                <a:gdLst/>
                <a:ahLst/>
                <a:cxnLst/>
                <a:rect r="r" b="b" t="t" l="l"/>
                <a:pathLst>
                  <a:path h="204228" w="2309889">
                    <a:moveTo>
                      <a:pt x="45352" y="0"/>
                    </a:moveTo>
                    <a:lnTo>
                      <a:pt x="2264538" y="0"/>
                    </a:lnTo>
                    <a:cubicBezTo>
                      <a:pt x="2289585" y="0"/>
                      <a:pt x="2309889" y="20305"/>
                      <a:pt x="2309889" y="45352"/>
                    </a:cubicBezTo>
                    <a:lnTo>
                      <a:pt x="2309889" y="158876"/>
                    </a:lnTo>
                    <a:cubicBezTo>
                      <a:pt x="2309889" y="183923"/>
                      <a:pt x="2289585" y="204228"/>
                      <a:pt x="2264538" y="204228"/>
                    </a:cubicBezTo>
                    <a:lnTo>
                      <a:pt x="45352" y="204228"/>
                    </a:lnTo>
                    <a:cubicBezTo>
                      <a:pt x="20305" y="204228"/>
                      <a:pt x="0" y="183923"/>
                      <a:pt x="0" y="158876"/>
                    </a:cubicBezTo>
                    <a:lnTo>
                      <a:pt x="0" y="45352"/>
                    </a:lnTo>
                    <a:cubicBezTo>
                      <a:pt x="0" y="20305"/>
                      <a:pt x="20305" y="0"/>
                      <a:pt x="45352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2309889" cy="25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203307"/>
              <a:ext cx="13346776" cy="7869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7200" y="297180"/>
            <a:ext cx="14810260" cy="1316468"/>
            <a:chOff x="0" y="0"/>
            <a:chExt cx="219456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94560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F8FAF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Optimización, Ensamble e Importancia de Variables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64552" y="2805552"/>
            <a:ext cx="11301259" cy="4675896"/>
          </a:xfrm>
          <a:custGeom>
            <a:avLst/>
            <a:gdLst/>
            <a:ahLst/>
            <a:cxnLst/>
            <a:rect r="r" b="b" t="t" l="l"/>
            <a:pathLst>
              <a:path h="4675896" w="11301259">
                <a:moveTo>
                  <a:pt x="0" y="0"/>
                </a:moveTo>
                <a:lnTo>
                  <a:pt x="11301259" y="0"/>
                </a:lnTo>
                <a:lnTo>
                  <a:pt x="11301259" y="4675896"/>
                </a:lnTo>
                <a:lnTo>
                  <a:pt x="0" y="4675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95294" y="3264866"/>
            <a:ext cx="5747970" cy="3757268"/>
          </a:xfrm>
          <a:custGeom>
            <a:avLst/>
            <a:gdLst/>
            <a:ahLst/>
            <a:cxnLst/>
            <a:rect r="r" b="b" t="t" l="l"/>
            <a:pathLst>
              <a:path h="3757268" w="5747970">
                <a:moveTo>
                  <a:pt x="0" y="0"/>
                </a:moveTo>
                <a:lnTo>
                  <a:pt x="5747970" y="0"/>
                </a:lnTo>
                <a:lnTo>
                  <a:pt x="5747970" y="3757268"/>
                </a:lnTo>
                <a:lnTo>
                  <a:pt x="0" y="3757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" t="-2949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18288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>
                  <a:solidFill>
                    <a:srgbClr val="1B43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Métodos No Supervisados - Clustering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5938" y="1684020"/>
            <a:ext cx="5511803" cy="939803"/>
            <a:chOff x="0" y="0"/>
            <a:chExt cx="7349071" cy="1253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B7E4C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89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236091"/>
                  </a:lnTo>
                  <a:cubicBezTo>
                    <a:pt x="7348982" y="1245489"/>
                    <a:pt x="7341362" y="1252982"/>
                    <a:pt x="73320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7332091" y="1219200"/>
                  </a:lnTo>
                  <a:lnTo>
                    <a:pt x="7332091" y="1236091"/>
                  </a:lnTo>
                  <a:lnTo>
                    <a:pt x="7315200" y="1236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5938" y="1709423"/>
            <a:ext cx="5486400" cy="850897"/>
            <a:chOff x="0" y="0"/>
            <a:chExt cx="7315200" cy="11345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1134529"/>
            </a:xfrm>
            <a:custGeom>
              <a:avLst/>
              <a:gdLst/>
              <a:ahLst/>
              <a:cxnLst/>
              <a:rect r="r" b="b" t="t" l="l"/>
              <a:pathLst>
                <a:path h="1134529" w="7315200">
                  <a:moveTo>
                    <a:pt x="567265" y="0"/>
                  </a:moveTo>
                  <a:lnTo>
                    <a:pt x="6747935" y="0"/>
                  </a:lnTo>
                  <a:cubicBezTo>
                    <a:pt x="6898384" y="0"/>
                    <a:pt x="7042669" y="59765"/>
                    <a:pt x="7149052" y="166148"/>
                  </a:cubicBezTo>
                  <a:cubicBezTo>
                    <a:pt x="7255435" y="272531"/>
                    <a:pt x="7315200" y="416817"/>
                    <a:pt x="7315200" y="567265"/>
                  </a:cubicBezTo>
                  <a:lnTo>
                    <a:pt x="7315200" y="567265"/>
                  </a:lnTo>
                  <a:cubicBezTo>
                    <a:pt x="7315200" y="880556"/>
                    <a:pt x="7061227" y="1134529"/>
                    <a:pt x="6747935" y="1134529"/>
                  </a:cubicBezTo>
                  <a:lnTo>
                    <a:pt x="567265" y="1134529"/>
                  </a:lnTo>
                  <a:cubicBezTo>
                    <a:pt x="416817" y="1134529"/>
                    <a:pt x="272531" y="1074764"/>
                    <a:pt x="166148" y="968381"/>
                  </a:cubicBezTo>
                  <a:cubicBezTo>
                    <a:pt x="59765" y="861998"/>
                    <a:pt x="0" y="717712"/>
                    <a:pt x="0" y="567265"/>
                  </a:cubicBezTo>
                  <a:lnTo>
                    <a:pt x="0" y="567265"/>
                  </a:lnTo>
                  <a:cubicBezTo>
                    <a:pt x="0" y="416817"/>
                    <a:pt x="59765" y="272531"/>
                    <a:pt x="166148" y="166148"/>
                  </a:cubicBezTo>
                  <a:cubicBezTo>
                    <a:pt x="272531" y="59765"/>
                    <a:pt x="416817" y="0"/>
                    <a:pt x="567265" y="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903" r="0" b="-793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7315200" cy="11345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F8FAF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K-Means (k=4)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38" y="2598420"/>
            <a:ext cx="5511803" cy="2857848"/>
            <a:chOff x="0" y="0"/>
            <a:chExt cx="7349071" cy="38104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2789"/>
              <a:ext cx="7315200" cy="3784818"/>
            </a:xfrm>
            <a:custGeom>
              <a:avLst/>
              <a:gdLst/>
              <a:ahLst/>
              <a:cxnLst/>
              <a:rect r="r" b="b" t="t" l="l"/>
              <a:pathLst>
                <a:path h="378481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784818"/>
                  </a:lnTo>
                  <a:lnTo>
                    <a:pt x="0" y="37848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3810396"/>
            </a:xfrm>
            <a:custGeom>
              <a:avLst/>
              <a:gdLst/>
              <a:ahLst/>
              <a:cxnLst/>
              <a:rect r="r" b="b" t="t" l="l"/>
              <a:pathLst>
                <a:path h="381039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5770"/>
                    <a:pt x="7348982" y="12789"/>
                  </a:cubicBezTo>
                  <a:lnTo>
                    <a:pt x="7348982" y="3797607"/>
                  </a:lnTo>
                  <a:cubicBezTo>
                    <a:pt x="7348982" y="3804723"/>
                    <a:pt x="7341362" y="3810396"/>
                    <a:pt x="7332091" y="3810396"/>
                  </a:cubicBezTo>
                  <a:lnTo>
                    <a:pt x="16891" y="3810396"/>
                  </a:lnTo>
                  <a:cubicBezTo>
                    <a:pt x="7493" y="3810396"/>
                    <a:pt x="0" y="3804627"/>
                    <a:pt x="0" y="3797607"/>
                  </a:cubicBezTo>
                  <a:lnTo>
                    <a:pt x="0" y="12789"/>
                  </a:lnTo>
                  <a:cubicBezTo>
                    <a:pt x="0" y="5770"/>
                    <a:pt x="7620" y="0"/>
                    <a:pt x="16891" y="0"/>
                  </a:cubicBezTo>
                  <a:moveTo>
                    <a:pt x="16891" y="25674"/>
                  </a:moveTo>
                  <a:lnTo>
                    <a:pt x="16891" y="12789"/>
                  </a:lnTo>
                  <a:lnTo>
                    <a:pt x="33909" y="12789"/>
                  </a:lnTo>
                  <a:lnTo>
                    <a:pt x="33909" y="3797607"/>
                  </a:lnTo>
                  <a:lnTo>
                    <a:pt x="16891" y="3797607"/>
                  </a:lnTo>
                  <a:lnTo>
                    <a:pt x="16891" y="3784818"/>
                  </a:lnTo>
                  <a:lnTo>
                    <a:pt x="7332091" y="3784818"/>
                  </a:lnTo>
                  <a:lnTo>
                    <a:pt x="7332091" y="3797607"/>
                  </a:lnTo>
                  <a:lnTo>
                    <a:pt x="7315200" y="3797607"/>
                  </a:lnTo>
                  <a:lnTo>
                    <a:pt x="7315200" y="12789"/>
                  </a:lnTo>
                  <a:lnTo>
                    <a:pt x="7332091" y="12789"/>
                  </a:lnTo>
                  <a:lnTo>
                    <a:pt x="7332091" y="25674"/>
                  </a:lnTo>
                  <a:lnTo>
                    <a:pt x="16891" y="25674"/>
                  </a:lnTo>
                  <a:close/>
                </a:path>
              </a:pathLst>
            </a:custGeom>
            <a:solidFill>
              <a:srgbClr val="B7E4C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68091" y="2757421"/>
            <a:ext cx="5047488" cy="2698847"/>
            <a:chOff x="0" y="0"/>
            <a:chExt cx="6729984" cy="35984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29984" cy="3598463"/>
            </a:xfrm>
            <a:custGeom>
              <a:avLst/>
              <a:gdLst/>
              <a:ahLst/>
              <a:cxnLst/>
              <a:rect r="r" b="b" t="t" l="l"/>
              <a:pathLst>
                <a:path h="3598463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3598463"/>
                  </a:lnTo>
                  <a:lnTo>
                    <a:pt x="0" y="35984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8324" t="0" r="-38324" b="-2874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729984" cy="359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Divide en 4 grupos forzando fronteras esféricas. Los clusters se solapan en espacio PCA — no hay separación clara. Estructura en columnas distribuida entre los 4 grupos.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88098" y="1684020"/>
            <a:ext cx="5511803" cy="939803"/>
            <a:chOff x="0" y="0"/>
            <a:chExt cx="7349071" cy="12530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B7E4C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489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236091"/>
                  </a:lnTo>
                  <a:cubicBezTo>
                    <a:pt x="7348982" y="1245489"/>
                    <a:pt x="7341362" y="1252982"/>
                    <a:pt x="73320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7332091" y="1219200"/>
                  </a:lnTo>
                  <a:lnTo>
                    <a:pt x="7332091" y="1236091"/>
                  </a:lnTo>
                  <a:lnTo>
                    <a:pt x="7315200" y="1236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13502" y="1709423"/>
            <a:ext cx="5486400" cy="914400"/>
            <a:chOff x="0" y="0"/>
            <a:chExt cx="731520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73152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1B43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DBSCAN (eps=2.5)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88098" y="2598420"/>
            <a:ext cx="5511803" cy="2857848"/>
            <a:chOff x="0" y="0"/>
            <a:chExt cx="7349071" cy="38104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2789"/>
              <a:ext cx="7315200" cy="3784818"/>
            </a:xfrm>
            <a:custGeom>
              <a:avLst/>
              <a:gdLst/>
              <a:ahLst/>
              <a:cxnLst/>
              <a:rect r="r" b="b" t="t" l="l"/>
              <a:pathLst>
                <a:path h="378481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784818"/>
                  </a:lnTo>
                  <a:lnTo>
                    <a:pt x="0" y="37848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48982" cy="3810396"/>
            </a:xfrm>
            <a:custGeom>
              <a:avLst/>
              <a:gdLst/>
              <a:ahLst/>
              <a:cxnLst/>
              <a:rect r="r" b="b" t="t" l="l"/>
              <a:pathLst>
                <a:path h="381039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5770"/>
                    <a:pt x="7348982" y="12789"/>
                  </a:cubicBezTo>
                  <a:lnTo>
                    <a:pt x="7348982" y="3797607"/>
                  </a:lnTo>
                  <a:cubicBezTo>
                    <a:pt x="7348982" y="3804723"/>
                    <a:pt x="7341362" y="3810396"/>
                    <a:pt x="7332091" y="3810396"/>
                  </a:cubicBezTo>
                  <a:lnTo>
                    <a:pt x="16891" y="3810396"/>
                  </a:lnTo>
                  <a:cubicBezTo>
                    <a:pt x="7493" y="3810396"/>
                    <a:pt x="0" y="3804627"/>
                    <a:pt x="0" y="3797607"/>
                  </a:cubicBezTo>
                  <a:lnTo>
                    <a:pt x="0" y="12789"/>
                  </a:lnTo>
                  <a:cubicBezTo>
                    <a:pt x="0" y="5770"/>
                    <a:pt x="7620" y="0"/>
                    <a:pt x="16891" y="0"/>
                  </a:cubicBezTo>
                  <a:moveTo>
                    <a:pt x="16891" y="25674"/>
                  </a:moveTo>
                  <a:lnTo>
                    <a:pt x="16891" y="12789"/>
                  </a:lnTo>
                  <a:lnTo>
                    <a:pt x="33909" y="12789"/>
                  </a:lnTo>
                  <a:lnTo>
                    <a:pt x="33909" y="3797607"/>
                  </a:lnTo>
                  <a:lnTo>
                    <a:pt x="16891" y="3797607"/>
                  </a:lnTo>
                  <a:lnTo>
                    <a:pt x="16891" y="3784818"/>
                  </a:lnTo>
                  <a:lnTo>
                    <a:pt x="7332091" y="3784818"/>
                  </a:lnTo>
                  <a:lnTo>
                    <a:pt x="7332091" y="3797607"/>
                  </a:lnTo>
                  <a:lnTo>
                    <a:pt x="7315200" y="3797607"/>
                  </a:lnTo>
                  <a:lnTo>
                    <a:pt x="7315200" y="12789"/>
                  </a:lnTo>
                  <a:lnTo>
                    <a:pt x="7332091" y="12789"/>
                  </a:lnTo>
                  <a:lnTo>
                    <a:pt x="7332091" y="25674"/>
                  </a:lnTo>
                  <a:lnTo>
                    <a:pt x="16891" y="25674"/>
                  </a:lnTo>
                  <a:close/>
                </a:path>
              </a:pathLst>
            </a:custGeom>
            <a:solidFill>
              <a:srgbClr val="B7E4C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620251" y="2757421"/>
            <a:ext cx="5047488" cy="2698847"/>
            <a:chOff x="0" y="0"/>
            <a:chExt cx="6729984" cy="35984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29984" cy="3598463"/>
            </a:xfrm>
            <a:custGeom>
              <a:avLst/>
              <a:gdLst/>
              <a:ahLst/>
              <a:cxnLst/>
              <a:rect r="r" b="b" t="t" l="l"/>
              <a:pathLst>
                <a:path h="3598463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3598463"/>
                  </a:lnTo>
                  <a:lnTo>
                    <a:pt x="0" y="35984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8324" t="0" r="-38324" b="-2874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729984" cy="359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Detectó 3 clusters basados en densidad + 207 outliers. Los 3 clusters coinciden con las 3 clases de rendimiento. Identifica muestras atípicas automáticamente.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40258" y="1684020"/>
            <a:ext cx="5511803" cy="939803"/>
            <a:chOff x="0" y="0"/>
            <a:chExt cx="7349071" cy="12530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B7E4C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489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236091"/>
                  </a:lnTo>
                  <a:cubicBezTo>
                    <a:pt x="7348982" y="1245489"/>
                    <a:pt x="7341362" y="1252982"/>
                    <a:pt x="73320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7332091" y="1219200"/>
                  </a:lnTo>
                  <a:lnTo>
                    <a:pt x="7332091" y="1236091"/>
                  </a:lnTo>
                  <a:lnTo>
                    <a:pt x="7315200" y="1236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240258" y="1645920"/>
            <a:ext cx="5486400" cy="914400"/>
            <a:chOff x="0" y="0"/>
            <a:chExt cx="731520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73152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F8FAF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Mean-Shift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240258" y="2598420"/>
            <a:ext cx="5511803" cy="2857848"/>
            <a:chOff x="0" y="0"/>
            <a:chExt cx="7349071" cy="38104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2789"/>
              <a:ext cx="7315200" cy="3784818"/>
            </a:xfrm>
            <a:custGeom>
              <a:avLst/>
              <a:gdLst/>
              <a:ahLst/>
              <a:cxnLst/>
              <a:rect r="r" b="b" t="t" l="l"/>
              <a:pathLst>
                <a:path h="378481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784818"/>
                  </a:lnTo>
                  <a:lnTo>
                    <a:pt x="0" y="37848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48982" cy="3810396"/>
            </a:xfrm>
            <a:custGeom>
              <a:avLst/>
              <a:gdLst/>
              <a:ahLst/>
              <a:cxnLst/>
              <a:rect r="r" b="b" t="t" l="l"/>
              <a:pathLst>
                <a:path h="381039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5770"/>
                    <a:pt x="7348982" y="12789"/>
                  </a:cubicBezTo>
                  <a:lnTo>
                    <a:pt x="7348982" y="3797607"/>
                  </a:lnTo>
                  <a:cubicBezTo>
                    <a:pt x="7348982" y="3804723"/>
                    <a:pt x="7341362" y="3810396"/>
                    <a:pt x="7332091" y="3810396"/>
                  </a:cubicBezTo>
                  <a:lnTo>
                    <a:pt x="16891" y="3810396"/>
                  </a:lnTo>
                  <a:cubicBezTo>
                    <a:pt x="7493" y="3810396"/>
                    <a:pt x="0" y="3804627"/>
                    <a:pt x="0" y="3797607"/>
                  </a:cubicBezTo>
                  <a:lnTo>
                    <a:pt x="0" y="12789"/>
                  </a:lnTo>
                  <a:cubicBezTo>
                    <a:pt x="0" y="5770"/>
                    <a:pt x="7620" y="0"/>
                    <a:pt x="16891" y="0"/>
                  </a:cubicBezTo>
                  <a:moveTo>
                    <a:pt x="16891" y="25674"/>
                  </a:moveTo>
                  <a:lnTo>
                    <a:pt x="16891" y="12789"/>
                  </a:lnTo>
                  <a:lnTo>
                    <a:pt x="33909" y="12789"/>
                  </a:lnTo>
                  <a:lnTo>
                    <a:pt x="33909" y="3797607"/>
                  </a:lnTo>
                  <a:lnTo>
                    <a:pt x="16891" y="3797607"/>
                  </a:lnTo>
                  <a:lnTo>
                    <a:pt x="16891" y="3784818"/>
                  </a:lnTo>
                  <a:lnTo>
                    <a:pt x="7332091" y="3784818"/>
                  </a:lnTo>
                  <a:lnTo>
                    <a:pt x="7332091" y="3797607"/>
                  </a:lnTo>
                  <a:lnTo>
                    <a:pt x="7315200" y="3797607"/>
                  </a:lnTo>
                  <a:lnTo>
                    <a:pt x="7315200" y="12789"/>
                  </a:lnTo>
                  <a:lnTo>
                    <a:pt x="7332091" y="12789"/>
                  </a:lnTo>
                  <a:lnTo>
                    <a:pt x="7332091" y="25674"/>
                  </a:lnTo>
                  <a:lnTo>
                    <a:pt x="16891" y="25674"/>
                  </a:lnTo>
                  <a:close/>
                </a:path>
              </a:pathLst>
            </a:custGeom>
            <a:solidFill>
              <a:srgbClr val="B7E4C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472411" y="2757421"/>
            <a:ext cx="5047488" cy="2698847"/>
            <a:chOff x="0" y="0"/>
            <a:chExt cx="6729984" cy="35984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729984" cy="3598463"/>
            </a:xfrm>
            <a:custGeom>
              <a:avLst/>
              <a:gdLst/>
              <a:ahLst/>
              <a:cxnLst/>
              <a:rect r="r" b="b" t="t" l="l"/>
              <a:pathLst>
                <a:path h="3598463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3598463"/>
                  </a:lnTo>
                  <a:lnTo>
                    <a:pt x="0" y="35984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8324" t="0" r="-38324" b="-2874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6729984" cy="359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Detecta clusters automáticamente sin definir k. Transición gradual de colores — los datos forman un continuo sin grupos claramente separados.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535938" y="5589618"/>
            <a:ext cx="5643973" cy="4393066"/>
          </a:xfrm>
          <a:custGeom>
            <a:avLst/>
            <a:gdLst/>
            <a:ahLst/>
            <a:cxnLst/>
            <a:rect r="r" b="b" t="t" l="l"/>
            <a:pathLst>
              <a:path h="4393066" w="5643973">
                <a:moveTo>
                  <a:pt x="0" y="0"/>
                </a:moveTo>
                <a:lnTo>
                  <a:pt x="5643973" y="0"/>
                </a:lnTo>
                <a:lnTo>
                  <a:pt x="5643973" y="4393066"/>
                </a:lnTo>
                <a:lnTo>
                  <a:pt x="0" y="4393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460276" y="5781851"/>
            <a:ext cx="5439626" cy="4062505"/>
          </a:xfrm>
          <a:custGeom>
            <a:avLst/>
            <a:gdLst/>
            <a:ahLst/>
            <a:cxnLst/>
            <a:rect r="r" b="b" t="t" l="l"/>
            <a:pathLst>
              <a:path h="4062505" w="5439626">
                <a:moveTo>
                  <a:pt x="0" y="0"/>
                </a:moveTo>
                <a:lnTo>
                  <a:pt x="5439626" y="0"/>
                </a:lnTo>
                <a:lnTo>
                  <a:pt x="5439626" y="4062505"/>
                </a:lnTo>
                <a:lnTo>
                  <a:pt x="0" y="40625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2240258" y="5841592"/>
            <a:ext cx="5279641" cy="3943023"/>
          </a:xfrm>
          <a:custGeom>
            <a:avLst/>
            <a:gdLst/>
            <a:ahLst/>
            <a:cxnLst/>
            <a:rect r="r" b="b" t="t" l="l"/>
            <a:pathLst>
              <a:path h="3943023" w="5279641">
                <a:moveTo>
                  <a:pt x="0" y="0"/>
                </a:moveTo>
                <a:lnTo>
                  <a:pt x="5279641" y="0"/>
                </a:lnTo>
                <a:lnTo>
                  <a:pt x="5279641" y="3943023"/>
                </a:lnTo>
                <a:lnTo>
                  <a:pt x="0" y="39430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220" y="1042465"/>
            <a:ext cx="15919429" cy="1718358"/>
            <a:chOff x="0" y="0"/>
            <a:chExt cx="21225905" cy="229114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17688" y="0"/>
              <a:ext cx="20508217" cy="2291144"/>
              <a:chOff x="0" y="0"/>
              <a:chExt cx="2410261" cy="26927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10260" cy="269270"/>
              </a:xfrm>
              <a:custGeom>
                <a:avLst/>
                <a:gdLst/>
                <a:ahLst/>
                <a:cxnLst/>
                <a:rect r="r" b="b" t="t" l="l"/>
                <a:pathLst>
                  <a:path h="269270" w="2410260">
                    <a:moveTo>
                      <a:pt x="29319" y="0"/>
                    </a:moveTo>
                    <a:lnTo>
                      <a:pt x="2380942" y="0"/>
                    </a:lnTo>
                    <a:cubicBezTo>
                      <a:pt x="2388717" y="0"/>
                      <a:pt x="2396175" y="3089"/>
                      <a:pt x="2401673" y="8587"/>
                    </a:cubicBezTo>
                    <a:cubicBezTo>
                      <a:pt x="2407171" y="14086"/>
                      <a:pt x="2410260" y="21543"/>
                      <a:pt x="2410260" y="29319"/>
                    </a:cubicBezTo>
                    <a:lnTo>
                      <a:pt x="2410260" y="239951"/>
                    </a:lnTo>
                    <a:cubicBezTo>
                      <a:pt x="2410260" y="256144"/>
                      <a:pt x="2397134" y="269270"/>
                      <a:pt x="2380942" y="269270"/>
                    </a:cubicBezTo>
                    <a:lnTo>
                      <a:pt x="29319" y="269270"/>
                    </a:lnTo>
                    <a:cubicBezTo>
                      <a:pt x="21543" y="269270"/>
                      <a:pt x="14086" y="266181"/>
                      <a:pt x="8587" y="260683"/>
                    </a:cubicBezTo>
                    <a:cubicBezTo>
                      <a:pt x="3089" y="255185"/>
                      <a:pt x="0" y="247727"/>
                      <a:pt x="0" y="239951"/>
                    </a:cubicBezTo>
                    <a:lnTo>
                      <a:pt x="0" y="29319"/>
                    </a:lnTo>
                    <a:cubicBezTo>
                      <a:pt x="0" y="21543"/>
                      <a:pt x="3089" y="14086"/>
                      <a:pt x="8587" y="8587"/>
                    </a:cubicBezTo>
                    <a:cubicBezTo>
                      <a:pt x="14086" y="3089"/>
                      <a:pt x="21543" y="0"/>
                      <a:pt x="29319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410261" cy="307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389699" y="233322"/>
              <a:ext cx="19424559" cy="1074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KNN ganó porque en agricultura el contexto lo es todo. Cultivos similares en tipo y región se parecen nutricionalmente. KNN explota esa lógica mejor que cualquier otro modelo.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40652"/>
              <a:ext cx="1066954" cy="1066954"/>
            </a:xfrm>
            <a:custGeom>
              <a:avLst/>
              <a:gdLst/>
              <a:ahLst/>
              <a:cxnLst/>
              <a:rect r="r" b="b" t="t" l="l"/>
              <a:pathLst>
                <a:path h="1066954" w="1066954">
                  <a:moveTo>
                    <a:pt x="0" y="0"/>
                  </a:moveTo>
                  <a:lnTo>
                    <a:pt x="1066954" y="0"/>
                  </a:lnTo>
                  <a:lnTo>
                    <a:pt x="1066954" y="1066953"/>
                  </a:lnTo>
                  <a:lnTo>
                    <a:pt x="0" y="1066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2220" y="2872445"/>
            <a:ext cx="15919429" cy="1604700"/>
            <a:chOff x="0" y="0"/>
            <a:chExt cx="21225905" cy="213959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670217" y="0"/>
              <a:ext cx="20555688" cy="2139599"/>
              <a:chOff x="0" y="0"/>
              <a:chExt cx="2586950" cy="26927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586950" cy="269270"/>
              </a:xfrm>
              <a:custGeom>
                <a:avLst/>
                <a:gdLst/>
                <a:ahLst/>
                <a:cxnLst/>
                <a:rect r="r" b="b" t="t" l="l"/>
                <a:pathLst>
                  <a:path h="269270" w="2586950">
                    <a:moveTo>
                      <a:pt x="27316" y="0"/>
                    </a:moveTo>
                    <a:lnTo>
                      <a:pt x="2559634" y="0"/>
                    </a:lnTo>
                    <a:cubicBezTo>
                      <a:pt x="2574720" y="0"/>
                      <a:pt x="2586950" y="12230"/>
                      <a:pt x="2586950" y="27316"/>
                    </a:cubicBezTo>
                    <a:lnTo>
                      <a:pt x="2586950" y="241954"/>
                    </a:lnTo>
                    <a:cubicBezTo>
                      <a:pt x="2586950" y="257040"/>
                      <a:pt x="2574720" y="269270"/>
                      <a:pt x="2559634" y="269270"/>
                    </a:cubicBezTo>
                    <a:lnTo>
                      <a:pt x="27316" y="269270"/>
                    </a:lnTo>
                    <a:cubicBezTo>
                      <a:pt x="12230" y="269270"/>
                      <a:pt x="0" y="257040"/>
                      <a:pt x="0" y="241954"/>
                    </a:cubicBezTo>
                    <a:lnTo>
                      <a:pt x="0" y="27316"/>
                    </a:lnTo>
                    <a:cubicBezTo>
                      <a:pt x="0" y="12230"/>
                      <a:pt x="12230" y="0"/>
                      <a:pt x="27316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586950" cy="307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297779" y="215369"/>
              <a:ext cx="18952565" cy="163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El talón de Aquiles: la clase MALO. De cada 3 cultivos en mal estado, el modelo falla en 1. No es un problema del algoritmo — es que el mal rendimiento tiene muchas causas y cada una deja una huella distinta. Tambien el data set 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37963"/>
              <a:ext cx="996381" cy="996381"/>
            </a:xfrm>
            <a:custGeom>
              <a:avLst/>
              <a:gdLst/>
              <a:ahLst/>
              <a:cxnLst/>
              <a:rect r="r" b="b" t="t" l="l"/>
              <a:pathLst>
                <a:path h="996381" w="996381">
                  <a:moveTo>
                    <a:pt x="0" y="0"/>
                  </a:moveTo>
                  <a:lnTo>
                    <a:pt x="996381" y="0"/>
                  </a:lnTo>
                  <a:lnTo>
                    <a:pt x="996381" y="996381"/>
                  </a:lnTo>
                  <a:lnTo>
                    <a:pt x="0" y="996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62220" y="4588767"/>
            <a:ext cx="15919429" cy="1604700"/>
            <a:chOff x="0" y="0"/>
            <a:chExt cx="21225905" cy="213959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670217" y="0"/>
              <a:ext cx="20555688" cy="2139599"/>
              <a:chOff x="0" y="0"/>
              <a:chExt cx="2586950" cy="26927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586950" cy="269270"/>
              </a:xfrm>
              <a:custGeom>
                <a:avLst/>
                <a:gdLst/>
                <a:ahLst/>
                <a:cxnLst/>
                <a:rect r="r" b="b" t="t" l="l"/>
                <a:pathLst>
                  <a:path h="269270" w="2586950">
                    <a:moveTo>
                      <a:pt x="27316" y="0"/>
                    </a:moveTo>
                    <a:lnTo>
                      <a:pt x="2559634" y="0"/>
                    </a:lnTo>
                    <a:cubicBezTo>
                      <a:pt x="2574720" y="0"/>
                      <a:pt x="2586950" y="12230"/>
                      <a:pt x="2586950" y="27316"/>
                    </a:cubicBezTo>
                    <a:lnTo>
                      <a:pt x="2586950" y="241954"/>
                    </a:lnTo>
                    <a:cubicBezTo>
                      <a:pt x="2586950" y="257040"/>
                      <a:pt x="2574720" y="269270"/>
                      <a:pt x="2559634" y="269270"/>
                    </a:cubicBezTo>
                    <a:lnTo>
                      <a:pt x="27316" y="269270"/>
                    </a:lnTo>
                    <a:cubicBezTo>
                      <a:pt x="12230" y="269270"/>
                      <a:pt x="0" y="257040"/>
                      <a:pt x="0" y="241954"/>
                    </a:cubicBezTo>
                    <a:lnTo>
                      <a:pt x="0" y="27316"/>
                    </a:lnTo>
                    <a:cubicBezTo>
                      <a:pt x="0" y="12230"/>
                      <a:pt x="12230" y="0"/>
                      <a:pt x="27316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2586950" cy="307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297779" y="215369"/>
              <a:ext cx="18952565" cy="1074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Hallazgo inesperado: el sodio lidera. No el nitrógeno, no el fósforo. El sodio, como proxy de estrés salino, resultó ser la señal más predictiva del dataset.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0" y="37963"/>
              <a:ext cx="996381" cy="996381"/>
            </a:xfrm>
            <a:custGeom>
              <a:avLst/>
              <a:gdLst/>
              <a:ahLst/>
              <a:cxnLst/>
              <a:rect r="r" b="b" t="t" l="l"/>
              <a:pathLst>
                <a:path h="996381" w="996381">
                  <a:moveTo>
                    <a:pt x="0" y="0"/>
                  </a:moveTo>
                  <a:lnTo>
                    <a:pt x="996381" y="0"/>
                  </a:lnTo>
                  <a:lnTo>
                    <a:pt x="996381" y="996381"/>
                  </a:lnTo>
                  <a:lnTo>
                    <a:pt x="0" y="996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62220" y="6305090"/>
            <a:ext cx="15919429" cy="1604700"/>
            <a:chOff x="0" y="0"/>
            <a:chExt cx="21225905" cy="2139599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670217" y="0"/>
              <a:ext cx="20555688" cy="2139599"/>
              <a:chOff x="0" y="0"/>
              <a:chExt cx="2586950" cy="2692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586950" cy="269270"/>
              </a:xfrm>
              <a:custGeom>
                <a:avLst/>
                <a:gdLst/>
                <a:ahLst/>
                <a:cxnLst/>
                <a:rect r="r" b="b" t="t" l="l"/>
                <a:pathLst>
                  <a:path h="269270" w="2586950">
                    <a:moveTo>
                      <a:pt x="27316" y="0"/>
                    </a:moveTo>
                    <a:lnTo>
                      <a:pt x="2559634" y="0"/>
                    </a:lnTo>
                    <a:cubicBezTo>
                      <a:pt x="2574720" y="0"/>
                      <a:pt x="2586950" y="12230"/>
                      <a:pt x="2586950" y="27316"/>
                    </a:cubicBezTo>
                    <a:lnTo>
                      <a:pt x="2586950" y="241954"/>
                    </a:lnTo>
                    <a:cubicBezTo>
                      <a:pt x="2586950" y="257040"/>
                      <a:pt x="2574720" y="269270"/>
                      <a:pt x="2559634" y="269270"/>
                    </a:cubicBezTo>
                    <a:lnTo>
                      <a:pt x="27316" y="269270"/>
                    </a:lnTo>
                    <a:cubicBezTo>
                      <a:pt x="12230" y="269270"/>
                      <a:pt x="0" y="257040"/>
                      <a:pt x="0" y="241954"/>
                    </a:cubicBezTo>
                    <a:lnTo>
                      <a:pt x="0" y="27316"/>
                    </a:lnTo>
                    <a:cubicBezTo>
                      <a:pt x="0" y="12230"/>
                      <a:pt x="12230" y="0"/>
                      <a:pt x="27316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586950" cy="307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297779" y="215369"/>
              <a:ext cx="18952565" cy="163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El rendimiento no es una categoría, es un continuo. El clustering lo confirmó: no hay grupos naturales. Clasificar en BUENO, REGULAR y MALO es útil, pero la realidad biológica es más borrosa.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37963"/>
              <a:ext cx="996381" cy="996381"/>
            </a:xfrm>
            <a:custGeom>
              <a:avLst/>
              <a:gdLst/>
              <a:ahLst/>
              <a:cxnLst/>
              <a:rect r="r" b="b" t="t" l="l"/>
              <a:pathLst>
                <a:path h="996381" w="996381">
                  <a:moveTo>
                    <a:pt x="0" y="0"/>
                  </a:moveTo>
                  <a:lnTo>
                    <a:pt x="996381" y="0"/>
                  </a:lnTo>
                  <a:lnTo>
                    <a:pt x="996381" y="996381"/>
                  </a:lnTo>
                  <a:lnTo>
                    <a:pt x="0" y="996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62220" y="8021412"/>
            <a:ext cx="15919429" cy="1604700"/>
            <a:chOff x="0" y="0"/>
            <a:chExt cx="21225905" cy="2139599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670217" y="0"/>
              <a:ext cx="20555688" cy="2139599"/>
              <a:chOff x="0" y="0"/>
              <a:chExt cx="2586950" cy="26927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586950" cy="269270"/>
              </a:xfrm>
              <a:custGeom>
                <a:avLst/>
                <a:gdLst/>
                <a:ahLst/>
                <a:cxnLst/>
                <a:rect r="r" b="b" t="t" l="l"/>
                <a:pathLst>
                  <a:path h="269270" w="2586950">
                    <a:moveTo>
                      <a:pt x="27316" y="0"/>
                    </a:moveTo>
                    <a:lnTo>
                      <a:pt x="2559634" y="0"/>
                    </a:lnTo>
                    <a:cubicBezTo>
                      <a:pt x="2574720" y="0"/>
                      <a:pt x="2586950" y="12230"/>
                      <a:pt x="2586950" y="27316"/>
                    </a:cubicBezTo>
                    <a:lnTo>
                      <a:pt x="2586950" y="241954"/>
                    </a:lnTo>
                    <a:cubicBezTo>
                      <a:pt x="2586950" y="257040"/>
                      <a:pt x="2574720" y="269270"/>
                      <a:pt x="2559634" y="269270"/>
                    </a:cubicBezTo>
                    <a:lnTo>
                      <a:pt x="27316" y="269270"/>
                    </a:lnTo>
                    <a:cubicBezTo>
                      <a:pt x="12230" y="269270"/>
                      <a:pt x="0" y="257040"/>
                      <a:pt x="0" y="241954"/>
                    </a:cubicBezTo>
                    <a:lnTo>
                      <a:pt x="0" y="27316"/>
                    </a:lnTo>
                    <a:cubicBezTo>
                      <a:pt x="0" y="12230"/>
                      <a:pt x="12230" y="0"/>
                      <a:pt x="27316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2586950" cy="307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297779" y="215369"/>
              <a:ext cx="18952565" cy="1074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Conclusión. El modelo no predice el futuro — prioriza dónde intervenir. Eso, a escala nacional, ya es suficiente para cambiar cómo Colombia previene pérdidas agrícolas.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0" y="37963"/>
              <a:ext cx="996381" cy="996381"/>
            </a:xfrm>
            <a:custGeom>
              <a:avLst/>
              <a:gdLst/>
              <a:ahLst/>
              <a:cxnLst/>
              <a:rect r="r" b="b" t="t" l="l"/>
              <a:pathLst>
                <a:path h="996381" w="996381">
                  <a:moveTo>
                    <a:pt x="0" y="0"/>
                  </a:moveTo>
                  <a:lnTo>
                    <a:pt x="996381" y="0"/>
                  </a:lnTo>
                  <a:lnTo>
                    <a:pt x="996381" y="996381"/>
                  </a:lnTo>
                  <a:lnTo>
                    <a:pt x="0" y="996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71877" y="9470877"/>
            <a:ext cx="816123" cy="816123"/>
            <a:chOff x="0" y="0"/>
            <a:chExt cx="1088164" cy="108816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88164" cy="108816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31435" y="31435"/>
                <a:ext cx="749931" cy="749931"/>
              </a:xfrm>
              <a:custGeom>
                <a:avLst/>
                <a:gdLst/>
                <a:ahLst/>
                <a:cxnLst/>
                <a:rect r="r" b="b" t="t" l="l"/>
                <a:pathLst>
                  <a:path h="749931" w="749931">
                    <a:moveTo>
                      <a:pt x="428627" y="22227"/>
                    </a:moveTo>
                    <a:lnTo>
                      <a:pt x="727703" y="321303"/>
                    </a:lnTo>
                    <a:cubicBezTo>
                      <a:pt x="757340" y="350940"/>
                      <a:pt x="757340" y="398990"/>
                      <a:pt x="727703" y="428627"/>
                    </a:cubicBezTo>
                    <a:lnTo>
                      <a:pt x="428627" y="727703"/>
                    </a:lnTo>
                    <a:cubicBezTo>
                      <a:pt x="398990" y="757340"/>
                      <a:pt x="350940" y="757340"/>
                      <a:pt x="321303" y="727703"/>
                    </a:cubicBezTo>
                    <a:lnTo>
                      <a:pt x="22227" y="428627"/>
                    </a:lnTo>
                    <a:cubicBezTo>
                      <a:pt x="-7410" y="398990"/>
                      <a:pt x="-7410" y="350940"/>
                      <a:pt x="22227" y="321303"/>
                    </a:cubicBezTo>
                    <a:lnTo>
                      <a:pt x="321303" y="22227"/>
                    </a:lnTo>
                    <a:cubicBezTo>
                      <a:pt x="350940" y="-7410"/>
                      <a:pt x="398990" y="-7410"/>
                      <a:pt x="428627" y="22227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6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00234" y="271455"/>
              <a:ext cx="687696" cy="497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1"/>
                </a:lnSpc>
              </a:pPr>
              <a:r>
                <a:rPr lang="en-US" sz="225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06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163917" y="812840"/>
            <a:ext cx="6503444" cy="8671259"/>
          </a:xfrm>
          <a:custGeom>
            <a:avLst/>
            <a:gdLst/>
            <a:ahLst/>
            <a:cxnLst/>
            <a:rect r="r" b="b" t="t" l="l"/>
            <a:pathLst>
              <a:path h="8671259" w="6503444">
                <a:moveTo>
                  <a:pt x="0" y="0"/>
                </a:moveTo>
                <a:lnTo>
                  <a:pt x="6503445" y="0"/>
                </a:lnTo>
                <a:lnTo>
                  <a:pt x="6503445" y="8671259"/>
                </a:lnTo>
                <a:lnTo>
                  <a:pt x="0" y="8671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9857" y="2245190"/>
            <a:ext cx="8541195" cy="568299"/>
          </a:xfrm>
          <a:custGeom>
            <a:avLst/>
            <a:gdLst/>
            <a:ahLst/>
            <a:cxnLst/>
            <a:rect r="r" b="b" t="t" l="l"/>
            <a:pathLst>
              <a:path h="568299" w="8541195">
                <a:moveTo>
                  <a:pt x="0" y="0"/>
                </a:moveTo>
                <a:lnTo>
                  <a:pt x="8541196" y="0"/>
                </a:lnTo>
                <a:lnTo>
                  <a:pt x="8541196" y="568299"/>
                </a:lnTo>
                <a:lnTo>
                  <a:pt x="0" y="568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7437" y="803315"/>
            <a:ext cx="8115300" cy="95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2"/>
              </a:lnSpc>
            </a:pPr>
            <a:r>
              <a:rPr lang="en-US" sz="6185" b="true">
                <a:solidFill>
                  <a:srgbClr val="5FA2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DATOS SINTÉTICOS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7437" y="3242114"/>
            <a:ext cx="10310515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Lotes 70,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cilos 2= (abril agosto)-(sept febrero)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años 8.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Numeo de samples = Lotes * cilos* años= 1120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7437" y="6024749"/>
            <a:ext cx="9041732" cy="218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0"/>
              </a:lnSpc>
              <a:spcBef>
                <a:spcPct val="0"/>
              </a:spcBef>
            </a:pPr>
            <a:r>
              <a:rPr lang="en-US" b="true" sz="3114">
                <a:solidFill>
                  <a:srgbClr val="1B43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Genera 1.120 filas y 15 columnas (variables agronómicas como nitrógeno, pH, NDVI), donde todas las 15 variables contribuyen a predecir el rendimiento del cultivo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8286" y="8993424"/>
            <a:ext cx="3886801" cy="48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9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(lluvia, plagas, clima)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71639" y="9037136"/>
            <a:ext cx="1906687" cy="43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26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ruido = 0.8.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93487" y="9635918"/>
            <a:ext cx="6665813" cy="43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26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FIGURA #10: ARROZ. (AUTORÍA PROPIA)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31473" y="8442177"/>
            <a:ext cx="816123" cy="81612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435" y="31435"/>
              <a:ext cx="749931" cy="749931"/>
            </a:xfrm>
            <a:custGeom>
              <a:avLst/>
              <a:gdLst/>
              <a:ahLst/>
              <a:cxnLst/>
              <a:rect r="r" b="b" t="t" l="l"/>
              <a:pathLst>
                <a:path h="749931" w="749931">
                  <a:moveTo>
                    <a:pt x="428627" y="22227"/>
                  </a:moveTo>
                  <a:lnTo>
                    <a:pt x="727703" y="321303"/>
                  </a:lnTo>
                  <a:cubicBezTo>
                    <a:pt x="757340" y="350940"/>
                    <a:pt x="757340" y="398990"/>
                    <a:pt x="727703" y="428627"/>
                  </a:cubicBezTo>
                  <a:lnTo>
                    <a:pt x="428627" y="727703"/>
                  </a:lnTo>
                  <a:cubicBezTo>
                    <a:pt x="398990" y="757340"/>
                    <a:pt x="350940" y="757340"/>
                    <a:pt x="321303" y="727703"/>
                  </a:cubicBezTo>
                  <a:lnTo>
                    <a:pt x="22227" y="428627"/>
                  </a:lnTo>
                  <a:cubicBezTo>
                    <a:pt x="-7410" y="398990"/>
                    <a:pt x="-7410" y="350940"/>
                    <a:pt x="22227" y="321303"/>
                  </a:cubicBezTo>
                  <a:lnTo>
                    <a:pt x="321303" y="22227"/>
                  </a:lnTo>
                  <a:cubicBezTo>
                    <a:pt x="350940" y="-7410"/>
                    <a:pt x="398990" y="-7410"/>
                    <a:pt x="428627" y="22227"/>
                  </a:cubicBezTo>
                  <a:close/>
                </a:path>
              </a:pathLst>
            </a:custGeom>
            <a:solidFill>
              <a:srgbClr val="0154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5896" y="1567278"/>
            <a:ext cx="13515469" cy="1310173"/>
          </a:xfrm>
          <a:custGeom>
            <a:avLst/>
            <a:gdLst/>
            <a:ahLst/>
            <a:cxnLst/>
            <a:rect r="r" b="b" t="t" l="l"/>
            <a:pathLst>
              <a:path h="1310173" w="13515469">
                <a:moveTo>
                  <a:pt x="0" y="0"/>
                </a:moveTo>
                <a:lnTo>
                  <a:pt x="13515468" y="0"/>
                </a:lnTo>
                <a:lnTo>
                  <a:pt x="13515468" y="1310173"/>
                </a:lnTo>
                <a:lnTo>
                  <a:pt x="0" y="131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0490" y="4132622"/>
            <a:ext cx="11400308" cy="2824195"/>
          </a:xfrm>
          <a:custGeom>
            <a:avLst/>
            <a:gdLst/>
            <a:ahLst/>
            <a:cxnLst/>
            <a:rect r="r" b="b" t="t" l="l"/>
            <a:pathLst>
              <a:path h="2824195" w="11400308">
                <a:moveTo>
                  <a:pt x="0" y="0"/>
                </a:moveTo>
                <a:lnTo>
                  <a:pt x="11400308" y="0"/>
                </a:lnTo>
                <a:lnTo>
                  <a:pt x="11400308" y="2824195"/>
                </a:lnTo>
                <a:lnTo>
                  <a:pt x="0" y="2824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589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78306" y="2954712"/>
            <a:ext cx="5801167" cy="4697026"/>
          </a:xfrm>
          <a:custGeom>
            <a:avLst/>
            <a:gdLst/>
            <a:ahLst/>
            <a:cxnLst/>
            <a:rect r="r" b="b" t="t" l="l"/>
            <a:pathLst>
              <a:path h="4697026" w="5801167">
                <a:moveTo>
                  <a:pt x="0" y="0"/>
                </a:moveTo>
                <a:lnTo>
                  <a:pt x="5801167" y="0"/>
                </a:lnTo>
                <a:lnTo>
                  <a:pt x="5801167" y="4697027"/>
                </a:lnTo>
                <a:lnTo>
                  <a:pt x="0" y="46970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80332" b="-170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681648" y="8633862"/>
            <a:ext cx="515772" cy="38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628097" y="39674"/>
            <a:ext cx="9441228" cy="101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0"/>
              </a:lnSpc>
              <a:spcBef>
                <a:spcPct val="0"/>
              </a:spcBef>
            </a:pPr>
            <a:r>
              <a:rPr lang="en-US" b="true" sz="6014">
                <a:solidFill>
                  <a:srgbClr val="1B43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6014">
                <a:solidFill>
                  <a:srgbClr val="1B43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ataset y formato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896" y="3347368"/>
            <a:ext cx="11001475" cy="4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6"/>
              </a:lnSpc>
              <a:spcBef>
                <a:spcPct val="0"/>
              </a:spcBef>
            </a:pPr>
            <a:r>
              <a:rPr lang="en-US" b="true" sz="281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 damos nombres a las variables (15) y RANGOS LÓGICOS)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8595" y="8003762"/>
            <a:ext cx="10518775" cy="43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b="true" sz="261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 LA CELDA 6 EN 6 COLUMNAS LE METEMOS 5% DE NULOS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31473" y="8442177"/>
            <a:ext cx="816123" cy="81612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435" y="31435"/>
              <a:ext cx="749931" cy="749931"/>
            </a:xfrm>
            <a:custGeom>
              <a:avLst/>
              <a:gdLst/>
              <a:ahLst/>
              <a:cxnLst/>
              <a:rect r="r" b="b" t="t" l="l"/>
              <a:pathLst>
                <a:path h="749931" w="749931">
                  <a:moveTo>
                    <a:pt x="428627" y="22227"/>
                  </a:moveTo>
                  <a:lnTo>
                    <a:pt x="727703" y="321303"/>
                  </a:lnTo>
                  <a:cubicBezTo>
                    <a:pt x="757340" y="350940"/>
                    <a:pt x="757340" y="398990"/>
                    <a:pt x="727703" y="428627"/>
                  </a:cubicBezTo>
                  <a:lnTo>
                    <a:pt x="428627" y="727703"/>
                  </a:lnTo>
                  <a:cubicBezTo>
                    <a:pt x="398990" y="757340"/>
                    <a:pt x="350940" y="757340"/>
                    <a:pt x="321303" y="727703"/>
                  </a:cubicBezTo>
                  <a:lnTo>
                    <a:pt x="22227" y="428627"/>
                  </a:lnTo>
                  <a:cubicBezTo>
                    <a:pt x="-7410" y="398990"/>
                    <a:pt x="-7410" y="350940"/>
                    <a:pt x="22227" y="321303"/>
                  </a:cubicBezTo>
                  <a:lnTo>
                    <a:pt x="321303" y="22227"/>
                  </a:lnTo>
                  <a:cubicBezTo>
                    <a:pt x="350940" y="-7410"/>
                    <a:pt x="398990" y="-7410"/>
                    <a:pt x="428627" y="22227"/>
                  </a:cubicBezTo>
                  <a:close/>
                </a:path>
              </a:pathLst>
            </a:custGeom>
            <a:solidFill>
              <a:srgbClr val="0154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4429" y="2840558"/>
            <a:ext cx="12544925" cy="7140959"/>
          </a:xfrm>
          <a:custGeom>
            <a:avLst/>
            <a:gdLst/>
            <a:ahLst/>
            <a:cxnLst/>
            <a:rect r="r" b="b" t="t" l="l"/>
            <a:pathLst>
              <a:path h="7140959" w="12544925">
                <a:moveTo>
                  <a:pt x="0" y="0"/>
                </a:moveTo>
                <a:lnTo>
                  <a:pt x="12544925" y="0"/>
                </a:lnTo>
                <a:lnTo>
                  <a:pt x="12544925" y="7140958"/>
                </a:lnTo>
                <a:lnTo>
                  <a:pt x="0" y="7140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2627" b="-1574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81648" y="8633862"/>
            <a:ext cx="515772" cy="38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4429" y="328480"/>
            <a:ext cx="15987044" cy="135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0"/>
              </a:lnSpc>
              <a:spcBef>
                <a:spcPct val="0"/>
              </a:spcBef>
            </a:pPr>
            <a:r>
              <a:rPr lang="en-US" sz="26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Exploramos la estructura, tipos de dato, </a:t>
            </a:r>
            <a:r>
              <a:rPr lang="en-US" b="true" sz="261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estadísticas básicas </a:t>
            </a:r>
            <a:r>
              <a:rPr lang="en-US" sz="26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 distribución visual del dataset para entender qué tenemos antes de modelar (.shape, .dtypes, .info(), .describe(), boxplots, histogramas).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89354" y="4567817"/>
            <a:ext cx="5140711" cy="363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487" indent="-282243" lvl="1">
              <a:lnSpc>
                <a:spcPts val="3660"/>
              </a:lnSpc>
              <a:spcBef>
                <a:spcPct val="0"/>
              </a:spcBef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6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recipitacion tiene atípicos marcados.</a:t>
            </a:r>
          </a:p>
          <a:p>
            <a:pPr algn="l" marL="564487" indent="-282243" lvl="1">
              <a:lnSpc>
                <a:spcPts val="3660"/>
              </a:lnSpc>
              <a:spcBef>
                <a:spcPct val="0"/>
              </a:spcBef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 no presenta anomalías.</a:t>
            </a:r>
          </a:p>
          <a:p>
            <a:pPr algn="l" marL="564487" indent="-282243" lvl="1">
              <a:lnSpc>
                <a:spcPts val="3660"/>
              </a:lnSpc>
              <a:spcBef>
                <a:spcPct val="0"/>
              </a:spcBef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ndvi tiene algunos atípicos leves.</a:t>
            </a:r>
          </a:p>
          <a:p>
            <a:pPr algn="l" marL="564487" indent="-282243" lvl="1">
              <a:lnSpc>
                <a:spcPts val="3660"/>
              </a:lnSpc>
              <a:spcBef>
                <a:spcPct val="0"/>
              </a:spcBef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6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endimiento tiene mediana de ~8 t/ha con un atípico bajo en 4.0 t/ha.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653" y="2017906"/>
            <a:ext cx="1530747" cy="43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b="true" sz="261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Boxplots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73608" y="9369709"/>
            <a:ext cx="816123" cy="81612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435" y="31435"/>
              <a:ext cx="749931" cy="749931"/>
            </a:xfrm>
            <a:custGeom>
              <a:avLst/>
              <a:gdLst/>
              <a:ahLst/>
              <a:cxnLst/>
              <a:rect r="r" b="b" t="t" l="l"/>
              <a:pathLst>
                <a:path h="749931" w="749931">
                  <a:moveTo>
                    <a:pt x="428627" y="22227"/>
                  </a:moveTo>
                  <a:lnTo>
                    <a:pt x="727703" y="321303"/>
                  </a:lnTo>
                  <a:cubicBezTo>
                    <a:pt x="757340" y="350940"/>
                    <a:pt x="757340" y="398990"/>
                    <a:pt x="727703" y="428627"/>
                  </a:cubicBezTo>
                  <a:lnTo>
                    <a:pt x="428627" y="727703"/>
                  </a:lnTo>
                  <a:cubicBezTo>
                    <a:pt x="398990" y="757340"/>
                    <a:pt x="350940" y="757340"/>
                    <a:pt x="321303" y="727703"/>
                  </a:cubicBezTo>
                  <a:lnTo>
                    <a:pt x="22227" y="428627"/>
                  </a:lnTo>
                  <a:cubicBezTo>
                    <a:pt x="-7410" y="398990"/>
                    <a:pt x="-7410" y="350940"/>
                    <a:pt x="22227" y="321303"/>
                  </a:cubicBezTo>
                  <a:lnTo>
                    <a:pt x="321303" y="22227"/>
                  </a:lnTo>
                  <a:cubicBezTo>
                    <a:pt x="350940" y="-7410"/>
                    <a:pt x="398990" y="-7410"/>
                    <a:pt x="428627" y="22227"/>
                  </a:cubicBezTo>
                  <a:close/>
                </a:path>
              </a:pathLst>
            </a:custGeom>
            <a:solidFill>
              <a:srgbClr val="0154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242542" y="306805"/>
            <a:ext cx="11539127" cy="2045368"/>
          </a:xfrm>
          <a:custGeom>
            <a:avLst/>
            <a:gdLst/>
            <a:ahLst/>
            <a:cxnLst/>
            <a:rect r="r" b="b" t="t" l="l"/>
            <a:pathLst>
              <a:path h="2045368" w="11539127">
                <a:moveTo>
                  <a:pt x="0" y="0"/>
                </a:moveTo>
                <a:lnTo>
                  <a:pt x="11539128" y="0"/>
                </a:lnTo>
                <a:lnTo>
                  <a:pt x="11539128" y="2045369"/>
                </a:lnTo>
                <a:lnTo>
                  <a:pt x="0" y="2045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9709" r="-35511" b="-42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26913" y="2715001"/>
            <a:ext cx="2547252" cy="2428499"/>
          </a:xfrm>
          <a:custGeom>
            <a:avLst/>
            <a:gdLst/>
            <a:ahLst/>
            <a:cxnLst/>
            <a:rect r="r" b="b" t="t" l="l"/>
            <a:pathLst>
              <a:path h="2428499" w="2547252">
                <a:moveTo>
                  <a:pt x="0" y="0"/>
                </a:moveTo>
                <a:lnTo>
                  <a:pt x="2547252" y="0"/>
                </a:lnTo>
                <a:lnTo>
                  <a:pt x="2547252" y="2428499"/>
                </a:lnTo>
                <a:lnTo>
                  <a:pt x="0" y="2428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74165" y="2352174"/>
            <a:ext cx="10475882" cy="7621584"/>
          </a:xfrm>
          <a:custGeom>
            <a:avLst/>
            <a:gdLst/>
            <a:ahLst/>
            <a:cxnLst/>
            <a:rect r="r" b="b" t="t" l="l"/>
            <a:pathLst>
              <a:path h="7621584" w="10475882">
                <a:moveTo>
                  <a:pt x="0" y="0"/>
                </a:moveTo>
                <a:lnTo>
                  <a:pt x="10475882" y="0"/>
                </a:lnTo>
                <a:lnTo>
                  <a:pt x="10475882" y="7621583"/>
                </a:lnTo>
                <a:lnTo>
                  <a:pt x="0" y="76215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523784" y="9561394"/>
            <a:ext cx="515772" cy="38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7358" y="418592"/>
            <a:ext cx="4248363" cy="172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1"/>
              </a:lnSpc>
              <a:spcBef>
                <a:spcPct val="0"/>
              </a:spcBef>
            </a:pPr>
            <a:r>
              <a:rPr lang="en-US" b="true" sz="5029">
                <a:solidFill>
                  <a:srgbClr val="1B43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Histogramas</a:t>
            </a:r>
          </a:p>
          <a:p>
            <a:pPr algn="ctr">
              <a:lnSpc>
                <a:spcPts val="7041"/>
              </a:lnSpc>
              <a:spcBef>
                <a:spcPct val="0"/>
              </a:spcBef>
            </a:pPr>
            <a:r>
              <a:rPr lang="en-US" b="true" sz="5029">
                <a:solidFill>
                  <a:srgbClr val="1B43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&amp; Dispersión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7358" y="5234146"/>
            <a:ext cx="5725185" cy="181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0"/>
              </a:lnSpc>
              <a:spcBef>
                <a:spcPct val="0"/>
              </a:spcBef>
            </a:pPr>
            <a:r>
              <a:rPr lang="en-US" sz="26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Ninguna variable se correlaciona fuertemente con otra — excepto rendimiento ↔ rendimiento_cat (por construcción).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62395" y="1028700"/>
            <a:ext cx="5857780" cy="7810373"/>
          </a:xfrm>
          <a:custGeom>
            <a:avLst/>
            <a:gdLst/>
            <a:ahLst/>
            <a:cxnLst/>
            <a:rect r="r" b="b" t="t" l="l"/>
            <a:pathLst>
              <a:path h="7810373" w="5857780">
                <a:moveTo>
                  <a:pt x="0" y="0"/>
                </a:moveTo>
                <a:lnTo>
                  <a:pt x="5857780" y="0"/>
                </a:lnTo>
                <a:lnTo>
                  <a:pt x="5857780" y="7810373"/>
                </a:lnTo>
                <a:lnTo>
                  <a:pt x="0" y="7810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67950" y="4000496"/>
            <a:ext cx="6401904" cy="93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5"/>
              </a:lnSpc>
            </a:pPr>
            <a:r>
              <a:rPr lang="en-US" sz="6087" b="true">
                <a:solidFill>
                  <a:srgbClr val="0048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69854" y="8791448"/>
            <a:ext cx="9888538" cy="89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2614">
                <a:solidFill>
                  <a:srgbClr val="004834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2614">
                <a:solidFill>
                  <a:srgbClr val="004834"/>
                </a:solidFill>
                <a:latin typeface="Montserrat"/>
                <a:ea typeface="Montserrat"/>
                <a:cs typeface="Montserrat"/>
                <a:sym typeface="Montserrat"/>
              </a:rPr>
              <a:t>FIGURA #11: INTEGRANTES DEL GRUPO. (AUTORÍA PROPIA)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904" y="1028700"/>
            <a:ext cx="15610694" cy="2981674"/>
            <a:chOff x="0" y="0"/>
            <a:chExt cx="20814258" cy="397556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17688" y="0"/>
              <a:ext cx="5107796" cy="3975565"/>
              <a:chOff x="0" y="0"/>
              <a:chExt cx="600302" cy="46723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00302" cy="467235"/>
              </a:xfrm>
              <a:custGeom>
                <a:avLst/>
                <a:gdLst/>
                <a:ahLst/>
                <a:cxnLst/>
                <a:rect r="r" b="b" t="t" l="l"/>
                <a:pathLst>
                  <a:path h="467235" w="600302">
                    <a:moveTo>
                      <a:pt x="117718" y="0"/>
                    </a:moveTo>
                    <a:lnTo>
                      <a:pt x="482584" y="0"/>
                    </a:lnTo>
                    <a:cubicBezTo>
                      <a:pt x="513805" y="0"/>
                      <a:pt x="543747" y="12402"/>
                      <a:pt x="565823" y="34479"/>
                    </a:cubicBezTo>
                    <a:cubicBezTo>
                      <a:pt x="587899" y="56555"/>
                      <a:pt x="600302" y="86497"/>
                      <a:pt x="600302" y="117718"/>
                    </a:cubicBezTo>
                    <a:lnTo>
                      <a:pt x="600302" y="349517"/>
                    </a:lnTo>
                    <a:cubicBezTo>
                      <a:pt x="600302" y="380738"/>
                      <a:pt x="587899" y="410680"/>
                      <a:pt x="565823" y="432756"/>
                    </a:cubicBezTo>
                    <a:cubicBezTo>
                      <a:pt x="543747" y="454832"/>
                      <a:pt x="513805" y="467235"/>
                      <a:pt x="482584" y="467235"/>
                    </a:cubicBezTo>
                    <a:lnTo>
                      <a:pt x="117718" y="467235"/>
                    </a:lnTo>
                    <a:cubicBezTo>
                      <a:pt x="86497" y="467235"/>
                      <a:pt x="56555" y="454832"/>
                      <a:pt x="34479" y="432756"/>
                    </a:cubicBezTo>
                    <a:cubicBezTo>
                      <a:pt x="12402" y="410680"/>
                      <a:pt x="0" y="380738"/>
                      <a:pt x="0" y="349517"/>
                    </a:cubicBezTo>
                    <a:lnTo>
                      <a:pt x="0" y="117718"/>
                    </a:lnTo>
                    <a:cubicBezTo>
                      <a:pt x="0" y="86497"/>
                      <a:pt x="12402" y="56555"/>
                      <a:pt x="34479" y="34479"/>
                    </a:cubicBezTo>
                    <a:cubicBezTo>
                      <a:pt x="56555" y="12402"/>
                      <a:pt x="86497" y="0"/>
                      <a:pt x="117718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00302" cy="5053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389699" y="233322"/>
              <a:ext cx="19424559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40652"/>
              <a:ext cx="1066954" cy="1066954"/>
            </a:xfrm>
            <a:custGeom>
              <a:avLst/>
              <a:gdLst/>
              <a:ahLst/>
              <a:cxnLst/>
              <a:rect r="r" b="b" t="t" l="l"/>
              <a:pathLst>
                <a:path h="1066954" w="1066954">
                  <a:moveTo>
                    <a:pt x="0" y="0"/>
                  </a:moveTo>
                  <a:lnTo>
                    <a:pt x="1066954" y="0"/>
                  </a:lnTo>
                  <a:lnTo>
                    <a:pt x="1066954" y="1066953"/>
                  </a:lnTo>
                  <a:lnTo>
                    <a:pt x="0" y="1066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085917" y="1028700"/>
            <a:ext cx="15610694" cy="2981674"/>
            <a:chOff x="0" y="0"/>
            <a:chExt cx="20814258" cy="397556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717688" y="0"/>
              <a:ext cx="5107796" cy="3975565"/>
              <a:chOff x="0" y="0"/>
              <a:chExt cx="600302" cy="46723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00302" cy="467235"/>
              </a:xfrm>
              <a:custGeom>
                <a:avLst/>
                <a:gdLst/>
                <a:ahLst/>
                <a:cxnLst/>
                <a:rect r="r" b="b" t="t" l="l"/>
                <a:pathLst>
                  <a:path h="467235" w="600302">
                    <a:moveTo>
                      <a:pt x="117718" y="0"/>
                    </a:moveTo>
                    <a:lnTo>
                      <a:pt x="482584" y="0"/>
                    </a:lnTo>
                    <a:cubicBezTo>
                      <a:pt x="513805" y="0"/>
                      <a:pt x="543747" y="12402"/>
                      <a:pt x="565823" y="34479"/>
                    </a:cubicBezTo>
                    <a:cubicBezTo>
                      <a:pt x="587899" y="56555"/>
                      <a:pt x="600302" y="86497"/>
                      <a:pt x="600302" y="117718"/>
                    </a:cubicBezTo>
                    <a:lnTo>
                      <a:pt x="600302" y="349517"/>
                    </a:lnTo>
                    <a:cubicBezTo>
                      <a:pt x="600302" y="380738"/>
                      <a:pt x="587899" y="410680"/>
                      <a:pt x="565823" y="432756"/>
                    </a:cubicBezTo>
                    <a:cubicBezTo>
                      <a:pt x="543747" y="454832"/>
                      <a:pt x="513805" y="467235"/>
                      <a:pt x="482584" y="467235"/>
                    </a:cubicBezTo>
                    <a:lnTo>
                      <a:pt x="117718" y="467235"/>
                    </a:lnTo>
                    <a:cubicBezTo>
                      <a:pt x="86497" y="467235"/>
                      <a:pt x="56555" y="454832"/>
                      <a:pt x="34479" y="432756"/>
                    </a:cubicBezTo>
                    <a:cubicBezTo>
                      <a:pt x="12402" y="410680"/>
                      <a:pt x="0" y="380738"/>
                      <a:pt x="0" y="349517"/>
                    </a:cubicBezTo>
                    <a:lnTo>
                      <a:pt x="0" y="117718"/>
                    </a:lnTo>
                    <a:cubicBezTo>
                      <a:pt x="0" y="86497"/>
                      <a:pt x="12402" y="56555"/>
                      <a:pt x="34479" y="34479"/>
                    </a:cubicBezTo>
                    <a:cubicBezTo>
                      <a:pt x="56555" y="12402"/>
                      <a:pt x="86497" y="0"/>
                      <a:pt x="117718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00302" cy="5053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389699" y="233322"/>
              <a:ext cx="19424559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40652"/>
              <a:ext cx="1066954" cy="1066954"/>
            </a:xfrm>
            <a:custGeom>
              <a:avLst/>
              <a:gdLst/>
              <a:ahLst/>
              <a:cxnLst/>
              <a:rect r="r" b="b" t="t" l="l"/>
              <a:pathLst>
                <a:path h="1066954" w="1066954">
                  <a:moveTo>
                    <a:pt x="0" y="0"/>
                  </a:moveTo>
                  <a:lnTo>
                    <a:pt x="1066954" y="0"/>
                  </a:lnTo>
                  <a:lnTo>
                    <a:pt x="1066954" y="1066953"/>
                  </a:lnTo>
                  <a:lnTo>
                    <a:pt x="0" y="1066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327048" y="1028700"/>
            <a:ext cx="15610694" cy="2981674"/>
            <a:chOff x="0" y="0"/>
            <a:chExt cx="20814258" cy="397556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717688" y="0"/>
              <a:ext cx="5107796" cy="3975565"/>
              <a:chOff x="0" y="0"/>
              <a:chExt cx="600302" cy="46723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00302" cy="467235"/>
              </a:xfrm>
              <a:custGeom>
                <a:avLst/>
                <a:gdLst/>
                <a:ahLst/>
                <a:cxnLst/>
                <a:rect r="r" b="b" t="t" l="l"/>
                <a:pathLst>
                  <a:path h="467235" w="600302">
                    <a:moveTo>
                      <a:pt x="117718" y="0"/>
                    </a:moveTo>
                    <a:lnTo>
                      <a:pt x="482584" y="0"/>
                    </a:lnTo>
                    <a:cubicBezTo>
                      <a:pt x="513805" y="0"/>
                      <a:pt x="543747" y="12402"/>
                      <a:pt x="565823" y="34479"/>
                    </a:cubicBezTo>
                    <a:cubicBezTo>
                      <a:pt x="587899" y="56555"/>
                      <a:pt x="600302" y="86497"/>
                      <a:pt x="600302" y="117718"/>
                    </a:cubicBezTo>
                    <a:lnTo>
                      <a:pt x="600302" y="349517"/>
                    </a:lnTo>
                    <a:cubicBezTo>
                      <a:pt x="600302" y="380738"/>
                      <a:pt x="587899" y="410680"/>
                      <a:pt x="565823" y="432756"/>
                    </a:cubicBezTo>
                    <a:cubicBezTo>
                      <a:pt x="543747" y="454832"/>
                      <a:pt x="513805" y="467235"/>
                      <a:pt x="482584" y="467235"/>
                    </a:cubicBezTo>
                    <a:lnTo>
                      <a:pt x="117718" y="467235"/>
                    </a:lnTo>
                    <a:cubicBezTo>
                      <a:pt x="86497" y="467235"/>
                      <a:pt x="56555" y="454832"/>
                      <a:pt x="34479" y="432756"/>
                    </a:cubicBezTo>
                    <a:cubicBezTo>
                      <a:pt x="12402" y="410680"/>
                      <a:pt x="0" y="380738"/>
                      <a:pt x="0" y="349517"/>
                    </a:cubicBezTo>
                    <a:lnTo>
                      <a:pt x="0" y="117718"/>
                    </a:lnTo>
                    <a:cubicBezTo>
                      <a:pt x="0" y="86497"/>
                      <a:pt x="12402" y="56555"/>
                      <a:pt x="34479" y="34479"/>
                    </a:cubicBezTo>
                    <a:cubicBezTo>
                      <a:pt x="56555" y="12402"/>
                      <a:pt x="86497" y="0"/>
                      <a:pt x="117718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00302" cy="5053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389699" y="233322"/>
              <a:ext cx="19424559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0" y="40652"/>
              <a:ext cx="1066954" cy="1066954"/>
            </a:xfrm>
            <a:custGeom>
              <a:avLst/>
              <a:gdLst/>
              <a:ahLst/>
              <a:cxnLst/>
              <a:rect r="r" b="b" t="t" l="l"/>
              <a:pathLst>
                <a:path h="1066954" w="1066954">
                  <a:moveTo>
                    <a:pt x="0" y="0"/>
                  </a:moveTo>
                  <a:lnTo>
                    <a:pt x="1066954" y="0"/>
                  </a:lnTo>
                  <a:lnTo>
                    <a:pt x="1066954" y="1066953"/>
                  </a:lnTo>
                  <a:lnTo>
                    <a:pt x="0" y="1066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658417" y="1028700"/>
            <a:ext cx="15610694" cy="2981674"/>
            <a:chOff x="0" y="0"/>
            <a:chExt cx="20814258" cy="3975565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717688" y="0"/>
              <a:ext cx="5107796" cy="3975565"/>
              <a:chOff x="0" y="0"/>
              <a:chExt cx="600302" cy="46723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00302" cy="467235"/>
              </a:xfrm>
              <a:custGeom>
                <a:avLst/>
                <a:gdLst/>
                <a:ahLst/>
                <a:cxnLst/>
                <a:rect r="r" b="b" t="t" l="l"/>
                <a:pathLst>
                  <a:path h="467235" w="600302">
                    <a:moveTo>
                      <a:pt x="117718" y="0"/>
                    </a:moveTo>
                    <a:lnTo>
                      <a:pt x="482584" y="0"/>
                    </a:lnTo>
                    <a:cubicBezTo>
                      <a:pt x="513805" y="0"/>
                      <a:pt x="543747" y="12402"/>
                      <a:pt x="565823" y="34479"/>
                    </a:cubicBezTo>
                    <a:cubicBezTo>
                      <a:pt x="587899" y="56555"/>
                      <a:pt x="600302" y="86497"/>
                      <a:pt x="600302" y="117718"/>
                    </a:cubicBezTo>
                    <a:lnTo>
                      <a:pt x="600302" y="349517"/>
                    </a:lnTo>
                    <a:cubicBezTo>
                      <a:pt x="600302" y="380738"/>
                      <a:pt x="587899" y="410680"/>
                      <a:pt x="565823" y="432756"/>
                    </a:cubicBezTo>
                    <a:cubicBezTo>
                      <a:pt x="543747" y="454832"/>
                      <a:pt x="513805" y="467235"/>
                      <a:pt x="482584" y="467235"/>
                    </a:cubicBezTo>
                    <a:lnTo>
                      <a:pt x="117718" y="467235"/>
                    </a:lnTo>
                    <a:cubicBezTo>
                      <a:pt x="86497" y="467235"/>
                      <a:pt x="56555" y="454832"/>
                      <a:pt x="34479" y="432756"/>
                    </a:cubicBezTo>
                    <a:cubicBezTo>
                      <a:pt x="12402" y="410680"/>
                      <a:pt x="0" y="380738"/>
                      <a:pt x="0" y="349517"/>
                    </a:cubicBezTo>
                    <a:lnTo>
                      <a:pt x="0" y="117718"/>
                    </a:lnTo>
                    <a:cubicBezTo>
                      <a:pt x="0" y="86497"/>
                      <a:pt x="12402" y="56555"/>
                      <a:pt x="34479" y="34479"/>
                    </a:cubicBezTo>
                    <a:cubicBezTo>
                      <a:pt x="56555" y="12402"/>
                      <a:pt x="86497" y="0"/>
                      <a:pt x="117718" y="0"/>
                    </a:cubicBezTo>
                    <a:close/>
                  </a:path>
                </a:pathLst>
              </a:custGeom>
              <a:solidFill>
                <a:srgbClr val="015438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00302" cy="5053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389699" y="233322"/>
              <a:ext cx="19424559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40652"/>
              <a:ext cx="1066954" cy="1066954"/>
            </a:xfrm>
            <a:custGeom>
              <a:avLst/>
              <a:gdLst/>
              <a:ahLst/>
              <a:cxnLst/>
              <a:rect r="r" b="b" t="t" l="l"/>
              <a:pathLst>
                <a:path h="1066954" w="1066954">
                  <a:moveTo>
                    <a:pt x="0" y="0"/>
                  </a:moveTo>
                  <a:lnTo>
                    <a:pt x="1066954" y="0"/>
                  </a:lnTo>
                  <a:lnTo>
                    <a:pt x="1066954" y="1066953"/>
                  </a:lnTo>
                  <a:lnTo>
                    <a:pt x="0" y="1066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2228623">
            <a:off x="10878664" y="2752536"/>
            <a:ext cx="1250603" cy="1425189"/>
          </a:xfrm>
          <a:custGeom>
            <a:avLst/>
            <a:gdLst/>
            <a:ahLst/>
            <a:cxnLst/>
            <a:rect r="r" b="b" t="t" l="l"/>
            <a:pathLst>
              <a:path h="1425189" w="1250603">
                <a:moveTo>
                  <a:pt x="0" y="0"/>
                </a:moveTo>
                <a:lnTo>
                  <a:pt x="1250603" y="0"/>
                </a:lnTo>
                <a:lnTo>
                  <a:pt x="1250603" y="1425189"/>
                </a:lnTo>
                <a:lnTo>
                  <a:pt x="0" y="142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27" id="27"/>
          <p:cNvSpPr/>
          <p:nvPr/>
        </p:nvSpPr>
        <p:spPr>
          <a:xfrm>
            <a:off x="8604584" y="4410723"/>
            <a:ext cx="0" cy="5876277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0226562" y="4879785"/>
            <a:ext cx="8061438" cy="5572469"/>
          </a:xfrm>
          <a:custGeom>
            <a:avLst/>
            <a:gdLst/>
            <a:ahLst/>
            <a:cxnLst/>
            <a:rect r="r" b="b" t="t" l="l"/>
            <a:pathLst>
              <a:path h="5572469" w="8061438">
                <a:moveTo>
                  <a:pt x="0" y="0"/>
                </a:moveTo>
                <a:lnTo>
                  <a:pt x="8061438" y="0"/>
                </a:lnTo>
                <a:lnTo>
                  <a:pt x="8061438" y="5572469"/>
                </a:lnTo>
                <a:lnTo>
                  <a:pt x="0" y="55724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803734" y="9477094"/>
            <a:ext cx="1242728" cy="615961"/>
          </a:xfrm>
          <a:custGeom>
            <a:avLst/>
            <a:gdLst/>
            <a:ahLst/>
            <a:cxnLst/>
            <a:rect r="r" b="b" t="t" l="l"/>
            <a:pathLst>
              <a:path h="615961" w="1242728">
                <a:moveTo>
                  <a:pt x="0" y="0"/>
                </a:moveTo>
                <a:lnTo>
                  <a:pt x="1242728" y="0"/>
                </a:lnTo>
                <a:lnTo>
                  <a:pt x="1242728" y="615961"/>
                </a:lnTo>
                <a:lnTo>
                  <a:pt x="0" y="615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40632" y="6814"/>
            <a:ext cx="11063090" cy="87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0"/>
              </a:lnSpc>
              <a:spcBef>
                <a:spcPct val="0"/>
              </a:spcBef>
            </a:pPr>
            <a:r>
              <a:rPr lang="en-US" b="true" sz="5114">
                <a:solidFill>
                  <a:srgbClr val="5FA2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Limpieza: Atípicos + Imputación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-5661668" y="1221707"/>
            <a:ext cx="15610694" cy="43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b="true" sz="2614">
                <a:solidFill>
                  <a:srgbClr val="F8FA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IQR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51164" y="1685374"/>
            <a:ext cx="3570780" cy="198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sz="1918">
                <a:solidFill>
                  <a:srgbClr val="F8FAF9"/>
                </a:solidFill>
                <a:latin typeface="Montserrat"/>
                <a:ea typeface="Montserrat"/>
                <a:cs typeface="Montserrat"/>
                <a:sym typeface="Montserrat"/>
              </a:rPr>
              <a:t>Precipitación (3 outliers: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sz="1918">
                <a:solidFill>
                  <a:srgbClr val="F8FAF9"/>
                </a:solidFill>
                <a:latin typeface="Montserrat"/>
                <a:ea typeface="Montserrat"/>
                <a:cs typeface="Montserrat"/>
                <a:sym typeface="Montserrat"/>
              </a:rPr>
              <a:t>650-800 mm) y conductividad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sz="1918">
                <a:solidFill>
                  <a:srgbClr val="F8FAF9"/>
                </a:solidFill>
                <a:latin typeface="Montserrat"/>
                <a:ea typeface="Montserrat"/>
                <a:cs typeface="Montserrat"/>
                <a:sym typeface="Montserrat"/>
              </a:rPr>
              <a:t>eléctrica (2 outliers: 6.5-8.0)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sz="1918">
                <a:solidFill>
                  <a:srgbClr val="F8FAF9"/>
                </a:solidFill>
                <a:latin typeface="Montserrat"/>
                <a:ea typeface="Montserrat"/>
                <a:cs typeface="Montserrat"/>
                <a:sym typeface="Montserrat"/>
              </a:rPr>
              <a:t>límite</a:t>
            </a:r>
          </a:p>
          <a:p>
            <a:pPr algn="just">
              <a:lnSpc>
                <a:spcPts val="2685"/>
              </a:lnSpc>
              <a:spcBef>
                <a:spcPct val="0"/>
              </a:spcBef>
            </a:pPr>
            <a:r>
              <a:rPr lang="en-US" sz="1918">
                <a:solidFill>
                  <a:srgbClr val="F8FAF9"/>
                </a:solidFill>
                <a:latin typeface="Montserrat"/>
                <a:ea typeface="Montserrat"/>
                <a:cs typeface="Montserrat"/>
                <a:sym typeface="Montserrat"/>
              </a:rPr>
              <a:t>más cercano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204034" y="1188501"/>
            <a:ext cx="2604592" cy="89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b="true" sz="2614">
                <a:solidFill>
                  <a:srgbClr val="F8FA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SimpleImputer</a:t>
            </a:r>
          </a:p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b="true" sz="2614">
                <a:solidFill>
                  <a:srgbClr val="F8FA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(media)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868030" y="2560366"/>
            <a:ext cx="3276600" cy="43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2614">
                <a:solidFill>
                  <a:srgbClr val="F8FAF9"/>
                </a:solidFill>
                <a:latin typeface="Montserrat"/>
                <a:ea typeface="Montserrat"/>
                <a:cs typeface="Montserrat"/>
                <a:sym typeface="Montserrat"/>
              </a:rPr>
              <a:t>Nitrógeno y Fósforo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61672" y="1188501"/>
            <a:ext cx="3271012" cy="89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b="true" sz="2614">
                <a:solidFill>
                  <a:srgbClr val="F8FA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KNNImputer</a:t>
            </a:r>
          </a:p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b="true" sz="2614">
                <a:solidFill>
                  <a:srgbClr val="F8FA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(k=5 vecinos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523119" y="1188501"/>
            <a:ext cx="3271012" cy="89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b="true" sz="2614">
                <a:solidFill>
                  <a:srgbClr val="F8FA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IterativeImputer</a:t>
            </a:r>
          </a:p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b="true" sz="2614">
                <a:solidFill>
                  <a:srgbClr val="F8FA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(regresión lineal)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68178" y="2227620"/>
            <a:ext cx="2623086" cy="89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2614">
                <a:solidFill>
                  <a:srgbClr val="F8FAF9"/>
                </a:solidFill>
                <a:latin typeface="Montserrat"/>
                <a:ea typeface="Montserrat"/>
                <a:cs typeface="Montserrat"/>
                <a:sym typeface="Montserrat"/>
              </a:rPr>
              <a:t>Humedad suelo y NDVI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407415" y="2227620"/>
            <a:ext cx="3502422" cy="135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261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Zinc y Silicio</a:t>
            </a:r>
          </a:p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261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→ micronutrientes</a:t>
            </a:r>
          </a:p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261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relacionados entre sí: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2361" y="4315174"/>
            <a:ext cx="4129584" cy="235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b="true" sz="4900">
                <a:solidFill>
                  <a:srgbClr val="5FA20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Robust scaler</a:t>
            </a:r>
          </a:p>
          <a:p>
            <a:pPr algn="ctr">
              <a:lnSpc>
                <a:spcPts val="12460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287359" y="5344795"/>
            <a:ext cx="7684448" cy="391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 BORRA EL EL DATO DE LA MITAD OSEA DE LA MEDIANA .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ME SE HACEN COLAS EN LOS ATIPICOS. 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Los atípicos no afectan la mediana ni el IQR —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son resistentes a valores extremos.</a:t>
            </a:r>
          </a:p>
          <a:p>
            <a:pPr algn="just">
              <a:lnSpc>
                <a:spcPts val="3780"/>
              </a:lnSpc>
            </a:pP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#xESCALADO = X-MEADIANA/ IQR .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8842758" y="4115149"/>
            <a:ext cx="1383804" cy="82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  <a:spcBef>
                <a:spcPct val="0"/>
              </a:spcBef>
            </a:pPr>
            <a:r>
              <a:rPr lang="en-US" b="true" sz="4914">
                <a:solidFill>
                  <a:srgbClr val="0048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PCA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73608" y="9369709"/>
            <a:ext cx="816123" cy="903371"/>
            <a:chOff x="0" y="0"/>
            <a:chExt cx="812800" cy="899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9204" y="33713"/>
              <a:ext cx="754392" cy="832267"/>
            </a:xfrm>
            <a:custGeom>
              <a:avLst/>
              <a:gdLst/>
              <a:ahLst/>
              <a:cxnLst/>
              <a:rect r="r" b="b" t="t" l="l"/>
              <a:pathLst>
                <a:path h="832267" w="754392">
                  <a:moveTo>
                    <a:pt x="428070" y="22600"/>
                  </a:moveTo>
                  <a:lnTo>
                    <a:pt x="732722" y="359821"/>
                  </a:lnTo>
                  <a:cubicBezTo>
                    <a:pt x="761616" y="391803"/>
                    <a:pt x="761616" y="440463"/>
                    <a:pt x="732722" y="472446"/>
                  </a:cubicBezTo>
                  <a:lnTo>
                    <a:pt x="428070" y="809667"/>
                  </a:lnTo>
                  <a:cubicBezTo>
                    <a:pt x="415071" y="824055"/>
                    <a:pt x="396587" y="832267"/>
                    <a:pt x="377196" y="832267"/>
                  </a:cubicBezTo>
                  <a:cubicBezTo>
                    <a:pt x="357805" y="832267"/>
                    <a:pt x="339321" y="824055"/>
                    <a:pt x="326322" y="809667"/>
                  </a:cubicBezTo>
                  <a:lnTo>
                    <a:pt x="21670" y="472446"/>
                  </a:lnTo>
                  <a:cubicBezTo>
                    <a:pt x="-7224" y="440463"/>
                    <a:pt x="-7224" y="391803"/>
                    <a:pt x="21670" y="359821"/>
                  </a:cubicBezTo>
                  <a:lnTo>
                    <a:pt x="326322" y="22600"/>
                  </a:lnTo>
                  <a:cubicBezTo>
                    <a:pt x="339321" y="8211"/>
                    <a:pt x="357805" y="0"/>
                    <a:pt x="377196" y="0"/>
                  </a:cubicBezTo>
                  <a:cubicBezTo>
                    <a:pt x="396587" y="0"/>
                    <a:pt x="415071" y="8211"/>
                    <a:pt x="428070" y="22600"/>
                  </a:cubicBezTo>
                  <a:close/>
                </a:path>
              </a:pathLst>
            </a:custGeom>
            <a:solidFill>
              <a:srgbClr val="0154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07010"/>
              <a:ext cx="533400" cy="638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0"/>
                </a:lnSpc>
              </a:pPr>
              <a:r>
                <a:rPr lang="en-US" sz="2614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11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04870" y="5561472"/>
            <a:ext cx="9871245" cy="4027144"/>
          </a:xfrm>
          <a:custGeom>
            <a:avLst/>
            <a:gdLst/>
            <a:ahLst/>
            <a:cxnLst/>
            <a:rect r="r" b="b" t="t" l="l"/>
            <a:pathLst>
              <a:path h="4027144" w="9871245">
                <a:moveTo>
                  <a:pt x="0" y="0"/>
                </a:moveTo>
                <a:lnTo>
                  <a:pt x="9871245" y="0"/>
                </a:lnTo>
                <a:lnTo>
                  <a:pt x="9871245" y="4027145"/>
                </a:lnTo>
                <a:lnTo>
                  <a:pt x="0" y="4027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8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94129" y="5832684"/>
            <a:ext cx="6179479" cy="3988710"/>
          </a:xfrm>
          <a:custGeom>
            <a:avLst/>
            <a:gdLst/>
            <a:ahLst/>
            <a:cxnLst/>
            <a:rect r="r" b="b" t="t" l="l"/>
            <a:pathLst>
              <a:path h="3988710" w="6179479">
                <a:moveTo>
                  <a:pt x="0" y="0"/>
                </a:moveTo>
                <a:lnTo>
                  <a:pt x="6179479" y="0"/>
                </a:lnTo>
                <a:lnTo>
                  <a:pt x="6179479" y="3988710"/>
                </a:lnTo>
                <a:lnTo>
                  <a:pt x="0" y="39887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870" y="1250001"/>
            <a:ext cx="16393514" cy="4139362"/>
          </a:xfrm>
          <a:custGeom>
            <a:avLst/>
            <a:gdLst/>
            <a:ahLst/>
            <a:cxnLst/>
            <a:rect r="r" b="b" t="t" l="l"/>
            <a:pathLst>
              <a:path h="4139362" w="16393514">
                <a:moveTo>
                  <a:pt x="0" y="0"/>
                </a:moveTo>
                <a:lnTo>
                  <a:pt x="16393514" y="0"/>
                </a:lnTo>
                <a:lnTo>
                  <a:pt x="16393514" y="4139362"/>
                </a:lnTo>
                <a:lnTo>
                  <a:pt x="0" y="4139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4238" y="316611"/>
            <a:ext cx="7875772" cy="93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5"/>
              </a:lnSpc>
            </a:pPr>
            <a:r>
              <a:rPr lang="en-US" sz="6087" b="true">
                <a:solidFill>
                  <a:srgbClr val="0048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Series de tiempo: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73608" y="9369709"/>
            <a:ext cx="816123" cy="903371"/>
            <a:chOff x="0" y="0"/>
            <a:chExt cx="812800" cy="899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9204" y="33713"/>
              <a:ext cx="754392" cy="832267"/>
            </a:xfrm>
            <a:custGeom>
              <a:avLst/>
              <a:gdLst/>
              <a:ahLst/>
              <a:cxnLst/>
              <a:rect r="r" b="b" t="t" l="l"/>
              <a:pathLst>
                <a:path h="832267" w="754392">
                  <a:moveTo>
                    <a:pt x="428070" y="22600"/>
                  </a:moveTo>
                  <a:lnTo>
                    <a:pt x="732722" y="359821"/>
                  </a:lnTo>
                  <a:cubicBezTo>
                    <a:pt x="761616" y="391803"/>
                    <a:pt x="761616" y="440463"/>
                    <a:pt x="732722" y="472446"/>
                  </a:cubicBezTo>
                  <a:lnTo>
                    <a:pt x="428070" y="809667"/>
                  </a:lnTo>
                  <a:cubicBezTo>
                    <a:pt x="415071" y="824055"/>
                    <a:pt x="396587" y="832267"/>
                    <a:pt x="377196" y="832267"/>
                  </a:cubicBezTo>
                  <a:cubicBezTo>
                    <a:pt x="357805" y="832267"/>
                    <a:pt x="339321" y="824055"/>
                    <a:pt x="326322" y="809667"/>
                  </a:cubicBezTo>
                  <a:lnTo>
                    <a:pt x="21670" y="472446"/>
                  </a:lnTo>
                  <a:cubicBezTo>
                    <a:pt x="-7224" y="440463"/>
                    <a:pt x="-7224" y="391803"/>
                    <a:pt x="21670" y="359821"/>
                  </a:cubicBezTo>
                  <a:lnTo>
                    <a:pt x="326322" y="22600"/>
                  </a:lnTo>
                  <a:cubicBezTo>
                    <a:pt x="339321" y="8211"/>
                    <a:pt x="357805" y="0"/>
                    <a:pt x="377196" y="0"/>
                  </a:cubicBezTo>
                  <a:cubicBezTo>
                    <a:pt x="396587" y="0"/>
                    <a:pt x="415071" y="8211"/>
                    <a:pt x="428070" y="22600"/>
                  </a:cubicBezTo>
                  <a:close/>
                </a:path>
              </a:pathLst>
            </a:custGeom>
            <a:solidFill>
              <a:srgbClr val="0154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07010"/>
              <a:ext cx="533400" cy="638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0"/>
                </a:lnSpc>
              </a:pPr>
              <a:r>
                <a:rPr lang="en-US" sz="2614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12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346188" y="5412630"/>
            <a:ext cx="13027420" cy="3957079"/>
          </a:xfrm>
          <a:custGeom>
            <a:avLst/>
            <a:gdLst/>
            <a:ahLst/>
            <a:cxnLst/>
            <a:rect r="r" b="b" t="t" l="l"/>
            <a:pathLst>
              <a:path h="3957079" w="13027420">
                <a:moveTo>
                  <a:pt x="0" y="0"/>
                </a:moveTo>
                <a:lnTo>
                  <a:pt x="13027420" y="0"/>
                </a:lnTo>
                <a:lnTo>
                  <a:pt x="13027420" y="3957079"/>
                </a:lnTo>
                <a:lnTo>
                  <a:pt x="0" y="3957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8535" y="2589229"/>
            <a:ext cx="11301259" cy="2542783"/>
          </a:xfrm>
          <a:custGeom>
            <a:avLst/>
            <a:gdLst/>
            <a:ahLst/>
            <a:cxnLst/>
            <a:rect r="r" b="b" t="t" l="l"/>
            <a:pathLst>
              <a:path h="2542783" w="11301259">
                <a:moveTo>
                  <a:pt x="0" y="0"/>
                </a:moveTo>
                <a:lnTo>
                  <a:pt x="11301259" y="0"/>
                </a:lnTo>
                <a:lnTo>
                  <a:pt x="11301259" y="2542783"/>
                </a:lnTo>
                <a:lnTo>
                  <a:pt x="0" y="2542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270711" y="266362"/>
            <a:ext cx="15853667" cy="97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1"/>
              </a:lnSpc>
              <a:spcBef>
                <a:spcPct val="0"/>
              </a:spcBef>
            </a:pPr>
            <a:r>
              <a:rPr lang="en-US" b="true" sz="5572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Resultados — Modelos de Clasificación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8535" y="1412996"/>
            <a:ext cx="12243396" cy="89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487" indent="-282243" lvl="1">
              <a:lnSpc>
                <a:spcPts val="3660"/>
              </a:lnSpc>
              <a:spcBef>
                <a:spcPct val="0"/>
              </a:spcBef>
              <a:buFont typeface="Arial"/>
              <a:buChar char="•"/>
            </a:pPr>
            <a:r>
              <a:rPr lang="en-US" sz="2614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80% entrenamiento, 20% prueba.</a:t>
            </a:r>
          </a:p>
          <a:p>
            <a:pPr algn="l" marL="564487" indent="-282243" lvl="1">
              <a:lnSpc>
                <a:spcPts val="3660"/>
              </a:lnSpc>
              <a:spcBef>
                <a:spcPct val="0"/>
              </a:spcBef>
              <a:buFont typeface="Arial"/>
              <a:buChar char="•"/>
            </a:pPr>
            <a:r>
              <a:rPr lang="en-US" sz="2614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X: variables agronómicas escaladas | y: rendimiento_cat (0=bajo, 1=alto)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7437" y="1633140"/>
            <a:ext cx="11249526" cy="76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6730" indent="-423365" lvl="1">
              <a:lnSpc>
                <a:spcPts val="54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21">
                <a:solidFill>
                  <a:srgbClr val="0048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 modelos no lineales ( SVM Y ANN) fueron mejores en este caso , era de esperarse por scikit-learn, que por debajo crea relaciones lineales entre las variables y el rendimiento</a:t>
            </a:r>
          </a:p>
          <a:p>
            <a:pPr algn="l">
              <a:lnSpc>
                <a:spcPts val="5490"/>
              </a:lnSpc>
              <a:spcBef>
                <a:spcPct val="0"/>
              </a:spcBef>
            </a:pPr>
          </a:p>
          <a:p>
            <a:pPr algn="l" marL="846730" indent="-423365" lvl="1">
              <a:lnSpc>
                <a:spcPts val="54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21">
                <a:solidFill>
                  <a:srgbClr val="0048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Alternativa para cultivo que no tiene datos bien tomados. </a:t>
            </a:r>
          </a:p>
          <a:p>
            <a:pPr algn="l">
              <a:lnSpc>
                <a:spcPts val="5490"/>
              </a:lnSpc>
              <a:spcBef>
                <a:spcPct val="0"/>
              </a:spcBef>
            </a:pPr>
          </a:p>
          <a:p>
            <a:pPr algn="l" marL="846730" indent="-423365" lvl="1">
              <a:lnSpc>
                <a:spcPts val="54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21">
                <a:solidFill>
                  <a:srgbClr val="0048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Tomar mas datos para hacer mejores series de tiempo.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373608" y="9369709"/>
            <a:ext cx="816123" cy="903371"/>
            <a:chOff x="0" y="0"/>
            <a:chExt cx="812800" cy="8996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9204" y="33713"/>
              <a:ext cx="754392" cy="832267"/>
            </a:xfrm>
            <a:custGeom>
              <a:avLst/>
              <a:gdLst/>
              <a:ahLst/>
              <a:cxnLst/>
              <a:rect r="r" b="b" t="t" l="l"/>
              <a:pathLst>
                <a:path h="832267" w="754392">
                  <a:moveTo>
                    <a:pt x="428070" y="22600"/>
                  </a:moveTo>
                  <a:lnTo>
                    <a:pt x="732722" y="359821"/>
                  </a:lnTo>
                  <a:cubicBezTo>
                    <a:pt x="761616" y="391803"/>
                    <a:pt x="761616" y="440463"/>
                    <a:pt x="732722" y="472446"/>
                  </a:cubicBezTo>
                  <a:lnTo>
                    <a:pt x="428070" y="809667"/>
                  </a:lnTo>
                  <a:cubicBezTo>
                    <a:pt x="415071" y="824055"/>
                    <a:pt x="396587" y="832267"/>
                    <a:pt x="377196" y="832267"/>
                  </a:cubicBezTo>
                  <a:cubicBezTo>
                    <a:pt x="357805" y="832267"/>
                    <a:pt x="339321" y="824055"/>
                    <a:pt x="326322" y="809667"/>
                  </a:cubicBezTo>
                  <a:lnTo>
                    <a:pt x="21670" y="472446"/>
                  </a:lnTo>
                  <a:cubicBezTo>
                    <a:pt x="-7224" y="440463"/>
                    <a:pt x="-7224" y="391803"/>
                    <a:pt x="21670" y="359821"/>
                  </a:cubicBezTo>
                  <a:lnTo>
                    <a:pt x="326322" y="22600"/>
                  </a:lnTo>
                  <a:cubicBezTo>
                    <a:pt x="339321" y="8211"/>
                    <a:pt x="357805" y="0"/>
                    <a:pt x="377196" y="0"/>
                  </a:cubicBezTo>
                  <a:cubicBezTo>
                    <a:pt x="396587" y="0"/>
                    <a:pt x="415071" y="8211"/>
                    <a:pt x="428070" y="22600"/>
                  </a:cubicBezTo>
                  <a:close/>
                </a:path>
              </a:pathLst>
            </a:custGeom>
            <a:solidFill>
              <a:srgbClr val="01543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39700" y="107010"/>
              <a:ext cx="533400" cy="638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0"/>
                </a:lnSpc>
              </a:pPr>
              <a:r>
                <a:rPr lang="en-US" sz="2614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13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078906" y="1028700"/>
            <a:ext cx="5702763" cy="7603685"/>
          </a:xfrm>
          <a:custGeom>
            <a:avLst/>
            <a:gdLst/>
            <a:ahLst/>
            <a:cxnLst/>
            <a:rect r="r" b="b" t="t" l="l"/>
            <a:pathLst>
              <a:path h="7603685" w="5702763">
                <a:moveTo>
                  <a:pt x="0" y="0"/>
                </a:moveTo>
                <a:lnTo>
                  <a:pt x="5702764" y="0"/>
                </a:lnTo>
                <a:lnTo>
                  <a:pt x="5702764" y="7603685"/>
                </a:lnTo>
                <a:lnTo>
                  <a:pt x="0" y="76036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57213"/>
            <a:ext cx="721105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8"/>
              </a:lnSpc>
            </a:pPr>
            <a:r>
              <a:rPr lang="en-US" sz="6090" b="true">
                <a:solidFill>
                  <a:srgbClr val="5FA2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Conclusiones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1930" y="791704"/>
            <a:ext cx="16724141" cy="8466596"/>
          </a:xfrm>
          <a:custGeom>
            <a:avLst/>
            <a:gdLst/>
            <a:ahLst/>
            <a:cxnLst/>
            <a:rect r="r" b="b" t="t" l="l"/>
            <a:pathLst>
              <a:path h="8466596" w="16724141">
                <a:moveTo>
                  <a:pt x="0" y="0"/>
                </a:moveTo>
                <a:lnTo>
                  <a:pt x="16724140" y="0"/>
                </a:lnTo>
                <a:lnTo>
                  <a:pt x="16724140" y="8466596"/>
                </a:lnTo>
                <a:lnTo>
                  <a:pt x="0" y="8466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DAHJaQR277s</dc:identifier>
  <dcterms:modified xsi:type="dcterms:W3CDTF">2011-08-01T06:04:30Z</dcterms:modified>
  <cp:revision>1</cp:revision>
  <dc:title>PRESENTACIÓNPAOLASOFIA</dc:title>
</cp:coreProperties>
</file>